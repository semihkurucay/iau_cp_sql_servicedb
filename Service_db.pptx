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68" r:id="rId5"/>
    <p:sldId id="269" r:id="rId6"/>
    <p:sldId id="274" r:id="rId7"/>
    <p:sldId id="257" r:id="rId8"/>
    <p:sldId id="258" r:id="rId9"/>
    <p:sldId id="265" r:id="rId10"/>
    <p:sldId id="270" r:id="rId11"/>
    <p:sldId id="275" r:id="rId12"/>
    <p:sldId id="259" r:id="rId13"/>
    <p:sldId id="260" r:id="rId14"/>
    <p:sldId id="266" r:id="rId15"/>
    <p:sldId id="271" r:id="rId16"/>
    <p:sldId id="276" r:id="rId17"/>
    <p:sldId id="261" r:id="rId18"/>
    <p:sldId id="262" r:id="rId19"/>
    <p:sldId id="267" r:id="rId20"/>
    <p:sldId id="277" r:id="rId21"/>
    <p:sldId id="264" r:id="rId2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1" d="100"/>
          <a:sy n="101" d="100"/>
        </p:scale>
        <p:origin x="87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466304-8D84-CED6-1ADF-C7C8AD73B2CE}"/>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D9FACFAC-35D8-683A-40EC-A29EFFD8D5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10CA85EE-1358-965E-73FC-D63BC797BDE1}"/>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5" name="Alt Bilgi Yer Tutucusu 4">
            <a:extLst>
              <a:ext uri="{FF2B5EF4-FFF2-40B4-BE49-F238E27FC236}">
                <a16:creationId xmlns:a16="http://schemas.microsoft.com/office/drawing/2014/main" id="{65377B1A-7390-4FE4-A39B-65B4392B26C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D2736E9-4EAC-C631-573A-7A7B800BE000}"/>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346403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D61620-5BC3-A299-7EDA-26E18C02B6B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F852C7C-0805-7349-5DDB-6E38EE758DA6}"/>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F6DCFAD-FE84-34A2-A568-CF9FB38DCA2D}"/>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5" name="Alt Bilgi Yer Tutucusu 4">
            <a:extLst>
              <a:ext uri="{FF2B5EF4-FFF2-40B4-BE49-F238E27FC236}">
                <a16:creationId xmlns:a16="http://schemas.microsoft.com/office/drawing/2014/main" id="{D9618152-4F29-74D1-ED30-B2D1956ECF4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11DEABC-0AE4-943D-9962-41FF9CFD2D7C}"/>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2441452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767C42-73B2-5D50-1A90-0037DB95F341}"/>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C6E5267A-57B5-F790-69E9-0EFCCC10F5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F902AF68-2223-C35C-1263-57C645CA4305}"/>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5" name="Alt Bilgi Yer Tutucusu 4">
            <a:extLst>
              <a:ext uri="{FF2B5EF4-FFF2-40B4-BE49-F238E27FC236}">
                <a16:creationId xmlns:a16="http://schemas.microsoft.com/office/drawing/2014/main" id="{2EA933F8-0DFB-AA8D-D531-FAE92A14589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FE35AF5-34EC-310E-02DB-EF4ECAEF785B}"/>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1946632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635BED-F93B-AB26-6EB1-EB23C438F53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931CC2D-02C5-AC22-B7FB-4B9C38B4AAA8}"/>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F08D5A73-5B22-EF30-0F7D-2D877DD189B3}"/>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79ED75C3-172B-5720-A65B-08979E1730E7}"/>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6" name="Alt Bilgi Yer Tutucusu 5">
            <a:extLst>
              <a:ext uri="{FF2B5EF4-FFF2-40B4-BE49-F238E27FC236}">
                <a16:creationId xmlns:a16="http://schemas.microsoft.com/office/drawing/2014/main" id="{2EF4AE6B-5C14-7878-4F92-1D011734F3F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6A7EFAA-DF74-D375-A7F9-5AC14A44784B}"/>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493065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4670E1-245F-C248-D39A-CE54B9F35481}"/>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93337F2-34AA-68F4-1AA5-69E8E559F2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53037FC-4C40-4622-93FB-100A7B082436}"/>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D0051F35-706F-F612-B231-CF0D4022F1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3E996E56-39F1-8CF4-11E7-5C1E4EC4812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6CCAB377-8C2C-A899-F0DB-C7093F4B8BB9}"/>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8" name="Alt Bilgi Yer Tutucusu 7">
            <a:extLst>
              <a:ext uri="{FF2B5EF4-FFF2-40B4-BE49-F238E27FC236}">
                <a16:creationId xmlns:a16="http://schemas.microsoft.com/office/drawing/2014/main" id="{68FCF726-221C-E1E6-6519-5CA3F67F2DED}"/>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B87EAB77-CF34-5AD8-1DD7-32D751AB902A}"/>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1383955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95AF6C-464F-181C-66A1-A56998425C98}"/>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94DD716-E96B-43A9-617C-44CCD015F75F}"/>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4" name="Alt Bilgi Yer Tutucusu 3">
            <a:extLst>
              <a:ext uri="{FF2B5EF4-FFF2-40B4-BE49-F238E27FC236}">
                <a16:creationId xmlns:a16="http://schemas.microsoft.com/office/drawing/2014/main" id="{D4ABA88D-CE04-7037-7A79-096132DBC9FB}"/>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CCC53F15-02E1-4105-DB74-3D8AFFEFC1F7}"/>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855493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39FCDF34-C22A-59FE-A887-CAE43FA1AB19}"/>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3" name="Alt Bilgi Yer Tutucusu 2">
            <a:extLst>
              <a:ext uri="{FF2B5EF4-FFF2-40B4-BE49-F238E27FC236}">
                <a16:creationId xmlns:a16="http://schemas.microsoft.com/office/drawing/2014/main" id="{ACA131AA-0926-454D-807A-15FED38B834C}"/>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BF23F1C0-0110-CAB4-55B5-6004CE86588B}"/>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3424064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79D1B1-842A-D929-1D80-DC56BA60947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DB4BEDA1-7539-9BBF-EA54-5AC8DD7EEA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79CCC1E1-362C-8A1D-2A51-F3DFD1BE4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2E58984-02F3-A639-89DC-5B3A5E5C2967}"/>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6" name="Alt Bilgi Yer Tutucusu 5">
            <a:extLst>
              <a:ext uri="{FF2B5EF4-FFF2-40B4-BE49-F238E27FC236}">
                <a16:creationId xmlns:a16="http://schemas.microsoft.com/office/drawing/2014/main" id="{7D62BADF-278B-C566-B3F4-B475FE27686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E0844F3-2310-A494-F33E-28EAE2F1A805}"/>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1207037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616DB04-86DE-E899-915E-17BE66373261}"/>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968797F-359C-DBEE-EFAC-D64DFFB5D9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A70EEA1-D7AC-3D73-5804-CFFB1E1204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AEC0752-014E-CF2F-E3CD-CA0581205A19}"/>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6" name="Alt Bilgi Yer Tutucusu 5">
            <a:extLst>
              <a:ext uri="{FF2B5EF4-FFF2-40B4-BE49-F238E27FC236}">
                <a16:creationId xmlns:a16="http://schemas.microsoft.com/office/drawing/2014/main" id="{88BF907E-CE43-1708-D343-3E825EFB5AC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C742B49-298E-461B-189A-E68C96C23BBB}"/>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3271418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F0CC4AF-539C-5992-6421-6A6E802745C4}"/>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5FEE7708-9163-B047-907C-9C47576F38C6}"/>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BB8AB81-73EE-7D25-9793-F000E210DAA4}"/>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5" name="Alt Bilgi Yer Tutucusu 4">
            <a:extLst>
              <a:ext uri="{FF2B5EF4-FFF2-40B4-BE49-F238E27FC236}">
                <a16:creationId xmlns:a16="http://schemas.microsoft.com/office/drawing/2014/main" id="{2CC97E8F-C97C-3298-29A8-FBFAC1529E8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370AFE1-5E84-9B5C-C396-485F927B7871}"/>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2521311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CEBFD216-9B20-253E-9708-5F25F86D3432}"/>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CC81616-FD39-9178-E0B1-FA4A059AF39A}"/>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8E0B0C4-42FA-3AF1-D4CD-18BB3490CC53}"/>
              </a:ext>
            </a:extLst>
          </p:cNvPr>
          <p:cNvSpPr>
            <a:spLocks noGrp="1"/>
          </p:cNvSpPr>
          <p:nvPr>
            <p:ph type="dt" sz="half" idx="10"/>
          </p:nvPr>
        </p:nvSpPr>
        <p:spPr/>
        <p:txBody>
          <a:bodyPr/>
          <a:lstStyle/>
          <a:p>
            <a:fld id="{A9AA8151-48BE-4631-82BC-278488EC9AAA}" type="datetimeFigureOut">
              <a:rPr lang="tr-TR" smtClean="0"/>
              <a:t>1.03.2026</a:t>
            </a:fld>
            <a:endParaRPr lang="tr-TR"/>
          </a:p>
        </p:txBody>
      </p:sp>
      <p:sp>
        <p:nvSpPr>
          <p:cNvPr id="5" name="Alt Bilgi Yer Tutucusu 4">
            <a:extLst>
              <a:ext uri="{FF2B5EF4-FFF2-40B4-BE49-F238E27FC236}">
                <a16:creationId xmlns:a16="http://schemas.microsoft.com/office/drawing/2014/main" id="{F8B6D315-A382-52A3-B6D5-CDF00152869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B1FB5AA-6E5A-4583-C3B5-DFF8B63B4456}"/>
              </a:ext>
            </a:extLst>
          </p:cNvPr>
          <p:cNvSpPr>
            <a:spLocks noGrp="1"/>
          </p:cNvSpPr>
          <p:nvPr>
            <p:ph type="sldNum" sz="quarter" idx="12"/>
          </p:nvPr>
        </p:nvSpPr>
        <p:spPr/>
        <p:txBody>
          <a:bodyPr/>
          <a:lstStyle/>
          <a:p>
            <a:fld id="{203B626F-ABAD-4CAD-AED4-F7241C48FE1A}" type="slidenum">
              <a:rPr lang="tr-TR" smtClean="0"/>
              <a:t>‹#›</a:t>
            </a:fld>
            <a:endParaRPr lang="tr-TR"/>
          </a:p>
        </p:txBody>
      </p:sp>
    </p:spTree>
    <p:extLst>
      <p:ext uri="{BB962C8B-B14F-4D97-AF65-F5344CB8AC3E}">
        <p14:creationId xmlns:p14="http://schemas.microsoft.com/office/powerpoint/2010/main" val="1191853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706C2C18-D07F-844E-D497-DB0D210C5D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0A25E3B6-C12E-1A08-444E-3ACCB77CC6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00452A8-5E1E-5408-63E6-5B45E1195E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A8151-48BE-4631-82BC-278488EC9AAA}" type="datetimeFigureOut">
              <a:rPr lang="tr-TR" smtClean="0"/>
              <a:t>1.03.2026</a:t>
            </a:fld>
            <a:endParaRPr lang="tr-TR"/>
          </a:p>
        </p:txBody>
      </p:sp>
      <p:sp>
        <p:nvSpPr>
          <p:cNvPr id="5" name="Alt Bilgi Yer Tutucusu 4">
            <a:extLst>
              <a:ext uri="{FF2B5EF4-FFF2-40B4-BE49-F238E27FC236}">
                <a16:creationId xmlns:a16="http://schemas.microsoft.com/office/drawing/2014/main" id="{A50CB94B-776D-0629-35DF-152CECCDAC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FCF4A6D2-32BD-1D8D-316E-D5E312ECBE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3B626F-ABAD-4CAD-AED4-F7241C48FE1A}" type="slidenum">
              <a:rPr lang="tr-TR" smtClean="0"/>
              <a:t>‹#›</a:t>
            </a:fld>
            <a:endParaRPr lang="tr-TR"/>
          </a:p>
        </p:txBody>
      </p:sp>
    </p:spTree>
    <p:extLst>
      <p:ext uri="{BB962C8B-B14F-4D97-AF65-F5344CB8AC3E}">
        <p14:creationId xmlns:p14="http://schemas.microsoft.com/office/powerpoint/2010/main" val="267355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FD8C068-0631-AE19-F095-8D05F8C93A0F}"/>
              </a:ext>
            </a:extLst>
          </p:cNvPr>
          <p:cNvSpPr>
            <a:spLocks noGrp="1"/>
          </p:cNvSpPr>
          <p:nvPr>
            <p:ph type="ctrTitle"/>
          </p:nvPr>
        </p:nvSpPr>
        <p:spPr/>
        <p:txBody>
          <a:bodyPr/>
          <a:lstStyle/>
          <a:p>
            <a:r>
              <a:rPr lang="tr-TR" dirty="0"/>
              <a:t>Teknik Servis Veri Tabanı</a:t>
            </a:r>
          </a:p>
        </p:txBody>
      </p:sp>
      <p:sp>
        <p:nvSpPr>
          <p:cNvPr id="3" name="Alt Başlık 2">
            <a:extLst>
              <a:ext uri="{FF2B5EF4-FFF2-40B4-BE49-F238E27FC236}">
                <a16:creationId xmlns:a16="http://schemas.microsoft.com/office/drawing/2014/main" id="{DE53E516-7454-4744-F507-3826C54DE7C5}"/>
              </a:ext>
            </a:extLst>
          </p:cNvPr>
          <p:cNvSpPr>
            <a:spLocks noGrp="1"/>
          </p:cNvSpPr>
          <p:nvPr>
            <p:ph type="subTitle" idx="1"/>
          </p:nvPr>
        </p:nvSpPr>
        <p:spPr/>
        <p:txBody>
          <a:bodyPr/>
          <a:lstStyle/>
          <a:p>
            <a:r>
              <a:rPr lang="tr-TR" dirty="0"/>
              <a:t>Semih KURUÇAY</a:t>
            </a:r>
          </a:p>
          <a:p>
            <a:r>
              <a:rPr lang="tr-TR" dirty="0"/>
              <a:t>***********</a:t>
            </a:r>
          </a:p>
        </p:txBody>
      </p:sp>
      <p:pic>
        <p:nvPicPr>
          <p:cNvPr id="5" name="Resim 4">
            <a:extLst>
              <a:ext uri="{FF2B5EF4-FFF2-40B4-BE49-F238E27FC236}">
                <a16:creationId xmlns:a16="http://schemas.microsoft.com/office/drawing/2014/main" id="{CA0A3695-348B-AE5D-4711-63DC9F2A3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362" y="567531"/>
            <a:ext cx="1819275" cy="1819275"/>
          </a:xfrm>
          <a:prstGeom prst="rect">
            <a:avLst/>
          </a:prstGeom>
        </p:spPr>
      </p:pic>
      <p:pic>
        <p:nvPicPr>
          <p:cNvPr id="7" name="Resim 6">
            <a:extLst>
              <a:ext uri="{FF2B5EF4-FFF2-40B4-BE49-F238E27FC236}">
                <a16:creationId xmlns:a16="http://schemas.microsoft.com/office/drawing/2014/main" id="{CEF4E74D-C2BC-0547-4197-3B3B3EADA8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6590" y="4429919"/>
            <a:ext cx="2142820" cy="2142820"/>
          </a:xfrm>
          <a:prstGeom prst="rect">
            <a:avLst/>
          </a:prstGeom>
        </p:spPr>
      </p:pic>
    </p:spTree>
    <p:extLst>
      <p:ext uri="{BB962C8B-B14F-4D97-AF65-F5344CB8AC3E}">
        <p14:creationId xmlns:p14="http://schemas.microsoft.com/office/powerpoint/2010/main" val="2574705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BF8262A2-3DCC-98D1-6D87-69BA34A2A162}"/>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A81E071C-0CB6-C157-01D7-F8D5D85BA8EC}"/>
              </a:ext>
            </a:extLst>
          </p:cNvPr>
          <p:cNvSpPr txBox="1"/>
          <p:nvPr/>
        </p:nvSpPr>
        <p:spPr>
          <a:xfrm>
            <a:off x="3042571" y="1233559"/>
            <a:ext cx="6125908" cy="523220"/>
          </a:xfrm>
          <a:prstGeom prst="rect">
            <a:avLst/>
          </a:prstGeom>
          <a:noFill/>
        </p:spPr>
        <p:txBody>
          <a:bodyPr wrap="none" rtlCol="0">
            <a:spAutoFit/>
          </a:bodyPr>
          <a:lstStyle/>
          <a:p>
            <a:r>
              <a:rPr lang="tr-TR" sz="2800" b="1" dirty="0"/>
              <a:t>Sistemin Amacı ve Hizmet Ettiği Kapsam</a:t>
            </a:r>
          </a:p>
        </p:txBody>
      </p:sp>
      <p:sp>
        <p:nvSpPr>
          <p:cNvPr id="3" name="Metin kutusu 2">
            <a:extLst>
              <a:ext uri="{FF2B5EF4-FFF2-40B4-BE49-F238E27FC236}">
                <a16:creationId xmlns:a16="http://schemas.microsoft.com/office/drawing/2014/main" id="{04AFD7D1-A61A-6C4E-BD45-90005B65C799}"/>
              </a:ext>
            </a:extLst>
          </p:cNvPr>
          <p:cNvSpPr txBox="1"/>
          <p:nvPr/>
        </p:nvSpPr>
        <p:spPr>
          <a:xfrm>
            <a:off x="152400" y="2472376"/>
            <a:ext cx="11906250" cy="923330"/>
          </a:xfrm>
          <a:prstGeom prst="rect">
            <a:avLst/>
          </a:prstGeom>
          <a:noFill/>
        </p:spPr>
        <p:txBody>
          <a:bodyPr wrap="square" rtlCol="0">
            <a:spAutoFit/>
          </a:bodyPr>
          <a:lstStyle/>
          <a:p>
            <a:pPr algn="just"/>
            <a:r>
              <a:rPr lang="tr-TR" dirty="0"/>
              <a:t>Tasarladığım veri tabanın, bir teknik servis firmasının günlük operasyonlarını dijitalleştirmesine hizmet etmektedir. Temel amacı; müşteri kayıtlarını, cihazların arıza bildirimlerini, personellerin müdahale süreçlerini ve güncel durumlarını veri tekrarı olmadan güvenli bir şekilde depolamak ve raporlamaktır.</a:t>
            </a:r>
          </a:p>
        </p:txBody>
      </p:sp>
      <p:pic>
        <p:nvPicPr>
          <p:cNvPr id="8" name="Resim 7">
            <a:extLst>
              <a:ext uri="{FF2B5EF4-FFF2-40B4-BE49-F238E27FC236}">
                <a16:creationId xmlns:a16="http://schemas.microsoft.com/office/drawing/2014/main" id="{D8A0B1A1-5942-DD2F-B2A3-E47A722BAC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2228" y="3923959"/>
            <a:ext cx="2395347" cy="2395347"/>
          </a:xfrm>
          <a:prstGeom prst="rect">
            <a:avLst/>
          </a:prstGeom>
        </p:spPr>
      </p:pic>
    </p:spTree>
    <p:extLst>
      <p:ext uri="{BB962C8B-B14F-4D97-AF65-F5344CB8AC3E}">
        <p14:creationId xmlns:p14="http://schemas.microsoft.com/office/powerpoint/2010/main" val="3301688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D1D6EB34-49FE-1D8A-E5A3-03662594A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19" y="548680"/>
            <a:ext cx="8640961" cy="5760640"/>
          </a:xfrm>
          <a:prstGeom prst="rect">
            <a:avLst/>
          </a:prstGeom>
        </p:spPr>
      </p:pic>
    </p:spTree>
    <p:extLst>
      <p:ext uri="{BB962C8B-B14F-4D97-AF65-F5344CB8AC3E}">
        <p14:creationId xmlns:p14="http://schemas.microsoft.com/office/powerpoint/2010/main" val="2432050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21D35A23-EDE2-CB8E-9F14-382B8DCB4962}"/>
            </a:ext>
          </a:extLst>
        </p:cNvPr>
        <p:cNvGrpSpPr/>
        <p:nvPr/>
      </p:nvGrpSpPr>
      <p:grpSpPr>
        <a:xfrm>
          <a:off x="0" y="0"/>
          <a:ext cx="0" cy="0"/>
          <a:chOff x="0" y="0"/>
          <a:chExt cx="0" cy="0"/>
        </a:xfrm>
      </p:grpSpPr>
      <p:pic>
        <p:nvPicPr>
          <p:cNvPr id="5" name="Resim 4">
            <a:extLst>
              <a:ext uri="{FF2B5EF4-FFF2-40B4-BE49-F238E27FC236}">
                <a16:creationId xmlns:a16="http://schemas.microsoft.com/office/drawing/2014/main" id="{530D3CBC-F8BE-70DF-0830-1942FF0EF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548681"/>
            <a:ext cx="8640960" cy="5760640"/>
          </a:xfrm>
          <a:prstGeom prst="rect">
            <a:avLst/>
          </a:prstGeom>
        </p:spPr>
      </p:pic>
    </p:spTree>
    <p:extLst>
      <p:ext uri="{BB962C8B-B14F-4D97-AF65-F5344CB8AC3E}">
        <p14:creationId xmlns:p14="http://schemas.microsoft.com/office/powerpoint/2010/main" val="32777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40D7EC70-BFA8-B037-2944-E011F616402C}"/>
              </a:ext>
            </a:extLst>
          </p:cNvPr>
          <p:cNvSpPr txBox="1"/>
          <p:nvPr/>
        </p:nvSpPr>
        <p:spPr>
          <a:xfrm>
            <a:off x="3837080" y="548680"/>
            <a:ext cx="4517840" cy="523220"/>
          </a:xfrm>
          <a:prstGeom prst="rect">
            <a:avLst/>
          </a:prstGeom>
          <a:noFill/>
        </p:spPr>
        <p:txBody>
          <a:bodyPr wrap="none" rtlCol="0">
            <a:spAutoFit/>
          </a:bodyPr>
          <a:lstStyle/>
          <a:p>
            <a:r>
              <a:rPr lang="tr-TR" sz="2800" b="1" dirty="0"/>
              <a:t>Adres Tablosu Gereksinimleri</a:t>
            </a:r>
          </a:p>
        </p:txBody>
      </p:sp>
      <p:sp>
        <p:nvSpPr>
          <p:cNvPr id="3" name="Metin kutusu 2">
            <a:extLst>
              <a:ext uri="{FF2B5EF4-FFF2-40B4-BE49-F238E27FC236}">
                <a16:creationId xmlns:a16="http://schemas.microsoft.com/office/drawing/2014/main" id="{A4E06C43-93F2-24D8-366B-D1B31D8520B1}"/>
              </a:ext>
            </a:extLst>
          </p:cNvPr>
          <p:cNvSpPr txBox="1"/>
          <p:nvPr/>
        </p:nvSpPr>
        <p:spPr>
          <a:xfrm>
            <a:off x="142875" y="1724679"/>
            <a:ext cx="11906250" cy="3970318"/>
          </a:xfrm>
          <a:prstGeom prst="rect">
            <a:avLst/>
          </a:prstGeom>
          <a:noFill/>
        </p:spPr>
        <p:txBody>
          <a:bodyPr wrap="square" rtlCol="0">
            <a:spAutoFit/>
          </a:bodyPr>
          <a:lstStyle/>
          <a:p>
            <a:pPr algn="just"/>
            <a:r>
              <a:rPr lang="tr-TR" b="1" dirty="0"/>
              <a:t>Amacı ve Saklanacak Veriler:</a:t>
            </a:r>
            <a:r>
              <a:rPr lang="tr-TR" dirty="0"/>
              <a:t> Sistemdeki müşteri ve çalışanların adres bilgilerinin standart, hatasız ve raporlanabilir bir şekilde depolanmasını hedefledim. Sistemde; şehir, ilçe ve mahalle isimleri ile birlikte sokak, bina ve kapı numarası gibi spesifik detayların girilebileceği bir açık adres bilgisi alanını da bu doğrultuda oluşturdum.</a:t>
            </a:r>
          </a:p>
          <a:p>
            <a:pPr algn="just"/>
            <a:endParaRPr lang="tr-TR" dirty="0"/>
          </a:p>
          <a:p>
            <a:pPr algn="just"/>
            <a:r>
              <a:rPr lang="tr-TR" b="1" dirty="0"/>
              <a:t>Tablo Yapısı:</a:t>
            </a:r>
            <a:r>
              <a:rPr lang="tr-TR" dirty="0"/>
              <a:t> Adres bilgilerinin manuel girişlerde yazım hatalarına yol açmasını engellemek amacıyla verileri tek bir tabloda yığmak yerine; Şehir (</a:t>
            </a:r>
            <a:r>
              <a:rPr lang="tr-TR" dirty="0" err="1"/>
              <a:t>city</a:t>
            </a:r>
            <a:r>
              <a:rPr lang="tr-TR" dirty="0"/>
              <a:t>), İlçe (</a:t>
            </a:r>
            <a:r>
              <a:rPr lang="tr-TR" dirty="0" err="1"/>
              <a:t>district</a:t>
            </a:r>
            <a:r>
              <a:rPr lang="tr-TR" dirty="0"/>
              <a:t>), Mahalle (</a:t>
            </a:r>
            <a:r>
              <a:rPr lang="tr-TR" dirty="0" err="1"/>
              <a:t>neighbourhood</a:t>
            </a:r>
            <a:r>
              <a:rPr lang="tr-TR" dirty="0"/>
              <a:t>) ve Adres (</a:t>
            </a:r>
            <a:r>
              <a:rPr lang="tr-TR" dirty="0" err="1"/>
              <a:t>address</a:t>
            </a:r>
            <a:r>
              <a:rPr lang="tr-TR" dirty="0"/>
              <a:t>) olmak üzere hiyerarşik 4 ayrı tablo tasarladım.</a:t>
            </a:r>
          </a:p>
          <a:p>
            <a:pPr algn="just"/>
            <a:endParaRPr lang="tr-TR" dirty="0"/>
          </a:p>
          <a:p>
            <a:r>
              <a:rPr lang="tr-TR" b="1" dirty="0"/>
              <a:t>Veriler Arası İlişkiler (</a:t>
            </a:r>
            <a:r>
              <a:rPr lang="tr-TR" b="1" dirty="0" err="1"/>
              <a:t>Kardinalite</a:t>
            </a:r>
            <a:r>
              <a:rPr lang="tr-TR" b="1" dirty="0"/>
              <a:t>):</a:t>
            </a:r>
            <a:r>
              <a:rPr lang="tr-TR" dirty="0"/>
              <a:t> Veri tekrarlarının ve tutarsızlıkların önüne geçmek için tablolar arasında hiyerarşik olarak şu bire-çok (1:N) ilişkileri kurguladım:</a:t>
            </a:r>
          </a:p>
          <a:p>
            <a:pPr marL="285750" indent="-285750">
              <a:buFont typeface="Arial" panose="020B0604020202020204" pitchFamily="34" charset="0"/>
              <a:buChar char="•"/>
            </a:pPr>
            <a:r>
              <a:rPr lang="tr-TR" b="1" dirty="0"/>
              <a:t>Şehir - İlçe (1:N):</a:t>
            </a:r>
            <a:r>
              <a:rPr lang="tr-TR" dirty="0"/>
              <a:t> Bir şehrin (</a:t>
            </a:r>
            <a:r>
              <a:rPr lang="tr-TR" dirty="0" err="1"/>
              <a:t>city</a:t>
            </a:r>
            <a:r>
              <a:rPr lang="tr-TR" dirty="0"/>
              <a:t>) birden fazla ilçesi (</a:t>
            </a:r>
            <a:r>
              <a:rPr lang="tr-TR" dirty="0" err="1"/>
              <a:t>district</a:t>
            </a:r>
            <a:r>
              <a:rPr lang="tr-TR" dirty="0"/>
              <a:t>) olabilmesini sağladım (1:N).</a:t>
            </a:r>
          </a:p>
          <a:p>
            <a:pPr marL="285750" indent="-285750">
              <a:buFont typeface="Arial" panose="020B0604020202020204" pitchFamily="34" charset="0"/>
              <a:buChar char="•"/>
            </a:pPr>
            <a:r>
              <a:rPr lang="tr-TR" b="1" dirty="0"/>
              <a:t>İlçe - Mahalle (1:N):</a:t>
            </a:r>
            <a:r>
              <a:rPr lang="tr-TR" dirty="0"/>
              <a:t> Bir ilçeye (</a:t>
            </a:r>
            <a:r>
              <a:rPr lang="tr-TR" dirty="0" err="1"/>
              <a:t>district</a:t>
            </a:r>
            <a:r>
              <a:rPr lang="tr-TR" dirty="0"/>
              <a:t>) bağlı birden fazla mahalle (</a:t>
            </a:r>
            <a:r>
              <a:rPr lang="tr-TR" dirty="0" err="1"/>
              <a:t>neighbourhood</a:t>
            </a:r>
            <a:r>
              <a:rPr lang="tr-TR" dirty="0"/>
              <a:t>) bulunabilmesine olanak tanıdım (1:N).</a:t>
            </a:r>
          </a:p>
          <a:p>
            <a:pPr marL="285750" indent="-285750">
              <a:buFont typeface="Arial" panose="020B0604020202020204" pitchFamily="34" charset="0"/>
              <a:buChar char="•"/>
            </a:pPr>
            <a:r>
              <a:rPr lang="tr-TR" b="1" dirty="0"/>
              <a:t>Mahalle - Adres (1:N):</a:t>
            </a:r>
            <a:r>
              <a:rPr lang="tr-TR" dirty="0"/>
              <a:t> Bir mahallede (</a:t>
            </a:r>
            <a:r>
              <a:rPr lang="tr-TR" dirty="0" err="1"/>
              <a:t>neighbourhood</a:t>
            </a:r>
            <a:r>
              <a:rPr lang="tr-TR" dirty="0"/>
              <a:t>) birden fazla açık adres (</a:t>
            </a:r>
            <a:r>
              <a:rPr lang="tr-TR" dirty="0" err="1"/>
              <a:t>address</a:t>
            </a:r>
            <a:r>
              <a:rPr lang="tr-TR" dirty="0"/>
              <a:t>) kaydı oluşturulabileceği bir mantık kurdum (1:N).</a:t>
            </a:r>
          </a:p>
        </p:txBody>
      </p:sp>
      <p:pic>
        <p:nvPicPr>
          <p:cNvPr id="5" name="Resim 4">
            <a:extLst>
              <a:ext uri="{FF2B5EF4-FFF2-40B4-BE49-F238E27FC236}">
                <a16:creationId xmlns:a16="http://schemas.microsoft.com/office/drawing/2014/main" id="{55E555F6-30CF-F6DA-E16C-5918515454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6400" y="260648"/>
            <a:ext cx="1428750" cy="1257300"/>
          </a:xfrm>
          <a:prstGeom prst="rect">
            <a:avLst/>
          </a:prstGeom>
        </p:spPr>
      </p:pic>
    </p:spTree>
    <p:extLst>
      <p:ext uri="{BB962C8B-B14F-4D97-AF65-F5344CB8AC3E}">
        <p14:creationId xmlns:p14="http://schemas.microsoft.com/office/powerpoint/2010/main" val="47262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D4E81CF5-63DD-F358-CF81-79D67BF75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1" y="548680"/>
            <a:ext cx="8640960" cy="5760640"/>
          </a:xfrm>
          <a:prstGeom prst="rect">
            <a:avLst/>
          </a:prstGeom>
        </p:spPr>
      </p:pic>
      <p:sp>
        <p:nvSpPr>
          <p:cNvPr id="4" name="Metin kutusu 3">
            <a:extLst>
              <a:ext uri="{FF2B5EF4-FFF2-40B4-BE49-F238E27FC236}">
                <a16:creationId xmlns:a16="http://schemas.microsoft.com/office/drawing/2014/main" id="{2FA8101F-19D1-757D-5D8B-201552311BA1}"/>
              </a:ext>
            </a:extLst>
          </p:cNvPr>
          <p:cNvSpPr txBox="1"/>
          <p:nvPr/>
        </p:nvSpPr>
        <p:spPr>
          <a:xfrm>
            <a:off x="1055440" y="148570"/>
            <a:ext cx="1930721" cy="400110"/>
          </a:xfrm>
          <a:prstGeom prst="rect">
            <a:avLst/>
          </a:prstGeom>
          <a:noFill/>
        </p:spPr>
        <p:txBody>
          <a:bodyPr wrap="none" rtlCol="0">
            <a:spAutoFit/>
          </a:bodyPr>
          <a:lstStyle/>
          <a:p>
            <a:r>
              <a:rPr lang="tr-TR" sz="2000" b="1" dirty="0"/>
              <a:t>Adres Diyagramı</a:t>
            </a:r>
          </a:p>
        </p:txBody>
      </p:sp>
    </p:spTree>
    <p:extLst>
      <p:ext uri="{BB962C8B-B14F-4D97-AF65-F5344CB8AC3E}">
        <p14:creationId xmlns:p14="http://schemas.microsoft.com/office/powerpoint/2010/main" val="3817278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17BD7610-18E4-C696-ADE5-7C5F53CC3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680" y="1268760"/>
            <a:ext cx="5760640" cy="4320480"/>
          </a:xfrm>
          <a:prstGeom prst="rect">
            <a:avLst/>
          </a:prstGeom>
        </p:spPr>
      </p:pic>
    </p:spTree>
    <p:extLst>
      <p:ext uri="{BB962C8B-B14F-4D97-AF65-F5344CB8AC3E}">
        <p14:creationId xmlns:p14="http://schemas.microsoft.com/office/powerpoint/2010/main" val="184608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ECC3678B-B072-6457-5B75-203A85FD06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680" y="4557251"/>
            <a:ext cx="5748132" cy="1971950"/>
          </a:xfrm>
          <a:prstGeom prst="rect">
            <a:avLst/>
          </a:prstGeom>
        </p:spPr>
      </p:pic>
      <p:pic>
        <p:nvPicPr>
          <p:cNvPr id="5" name="Resim 4">
            <a:extLst>
              <a:ext uri="{FF2B5EF4-FFF2-40B4-BE49-F238E27FC236}">
                <a16:creationId xmlns:a16="http://schemas.microsoft.com/office/drawing/2014/main" id="{76353A0B-D9B5-3F00-37C4-484DDE4CE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6240" y="1245061"/>
            <a:ext cx="3590569" cy="2183939"/>
          </a:xfrm>
          <a:prstGeom prst="rect">
            <a:avLst/>
          </a:prstGeom>
        </p:spPr>
      </p:pic>
      <p:pic>
        <p:nvPicPr>
          <p:cNvPr id="7" name="Resim 6">
            <a:extLst>
              <a:ext uri="{FF2B5EF4-FFF2-40B4-BE49-F238E27FC236}">
                <a16:creationId xmlns:a16="http://schemas.microsoft.com/office/drawing/2014/main" id="{E4BDE823-2427-8630-675C-6FB15ED8CB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1822" y="1245062"/>
            <a:ext cx="3590570" cy="2182114"/>
          </a:xfrm>
          <a:prstGeom prst="rect">
            <a:avLst/>
          </a:prstGeom>
        </p:spPr>
      </p:pic>
      <p:pic>
        <p:nvPicPr>
          <p:cNvPr id="9" name="Resim 8">
            <a:extLst>
              <a:ext uri="{FF2B5EF4-FFF2-40B4-BE49-F238E27FC236}">
                <a16:creationId xmlns:a16="http://schemas.microsoft.com/office/drawing/2014/main" id="{E02359A5-6F4C-4497-5224-2CD2B26ED1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362" y="1245062"/>
            <a:ext cx="2874911" cy="2183938"/>
          </a:xfrm>
          <a:prstGeom prst="rect">
            <a:avLst/>
          </a:prstGeom>
        </p:spPr>
      </p:pic>
      <p:cxnSp>
        <p:nvCxnSpPr>
          <p:cNvPr id="11" name="Düz Ok Bağlayıcısı 10">
            <a:extLst>
              <a:ext uri="{FF2B5EF4-FFF2-40B4-BE49-F238E27FC236}">
                <a16:creationId xmlns:a16="http://schemas.microsoft.com/office/drawing/2014/main" id="{BE09CF4F-0902-23A1-6869-62B4AF37693F}"/>
              </a:ext>
            </a:extLst>
          </p:cNvPr>
          <p:cNvCxnSpPr>
            <a:cxnSpLocks/>
            <a:stCxn id="9" idx="3"/>
            <a:endCxn id="7" idx="1"/>
          </p:cNvCxnSpPr>
          <p:nvPr/>
        </p:nvCxnSpPr>
        <p:spPr>
          <a:xfrm flipV="1">
            <a:off x="3210273" y="2336119"/>
            <a:ext cx="721549" cy="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Düz Ok Bağlayıcısı 24">
            <a:extLst>
              <a:ext uri="{FF2B5EF4-FFF2-40B4-BE49-F238E27FC236}">
                <a16:creationId xmlns:a16="http://schemas.microsoft.com/office/drawing/2014/main" id="{074307CC-038E-1F1D-D9FF-8F698980F3AD}"/>
              </a:ext>
            </a:extLst>
          </p:cNvPr>
          <p:cNvCxnSpPr>
            <a:cxnSpLocks/>
            <a:stCxn id="7" idx="3"/>
            <a:endCxn id="5" idx="1"/>
          </p:cNvCxnSpPr>
          <p:nvPr/>
        </p:nvCxnSpPr>
        <p:spPr>
          <a:xfrm>
            <a:off x="7522392" y="2336119"/>
            <a:ext cx="733848" cy="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Düz Ok Bağlayıcısı 28">
            <a:extLst>
              <a:ext uri="{FF2B5EF4-FFF2-40B4-BE49-F238E27FC236}">
                <a16:creationId xmlns:a16="http://schemas.microsoft.com/office/drawing/2014/main" id="{64CB0F10-0D45-5B36-8775-F4314B950CD7}"/>
              </a:ext>
            </a:extLst>
          </p:cNvPr>
          <p:cNvCxnSpPr>
            <a:cxnSpLocks/>
            <a:endCxn id="3" idx="3"/>
          </p:cNvCxnSpPr>
          <p:nvPr/>
        </p:nvCxnSpPr>
        <p:spPr>
          <a:xfrm flipH="1">
            <a:off x="8963812" y="5543226"/>
            <a:ext cx="10877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Düz Bağlayıcı 32">
            <a:extLst>
              <a:ext uri="{FF2B5EF4-FFF2-40B4-BE49-F238E27FC236}">
                <a16:creationId xmlns:a16="http://schemas.microsoft.com/office/drawing/2014/main" id="{31C517FB-8577-20B5-2B90-FA8A79488A52}"/>
              </a:ext>
            </a:extLst>
          </p:cNvPr>
          <p:cNvCxnSpPr>
            <a:cxnSpLocks/>
            <a:stCxn id="5" idx="2"/>
          </p:cNvCxnSpPr>
          <p:nvPr/>
        </p:nvCxnSpPr>
        <p:spPr>
          <a:xfrm>
            <a:off x="10051525" y="3429000"/>
            <a:ext cx="0" cy="21080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Metin kutusu 34">
            <a:extLst>
              <a:ext uri="{FF2B5EF4-FFF2-40B4-BE49-F238E27FC236}">
                <a16:creationId xmlns:a16="http://schemas.microsoft.com/office/drawing/2014/main" id="{85869581-2ADE-AC1A-6992-89BE5585847D}"/>
              </a:ext>
            </a:extLst>
          </p:cNvPr>
          <p:cNvSpPr txBox="1"/>
          <p:nvPr/>
        </p:nvSpPr>
        <p:spPr>
          <a:xfrm>
            <a:off x="3205661" y="2019951"/>
            <a:ext cx="276038" cy="307777"/>
          </a:xfrm>
          <a:prstGeom prst="rect">
            <a:avLst/>
          </a:prstGeom>
          <a:noFill/>
        </p:spPr>
        <p:txBody>
          <a:bodyPr wrap="none" rtlCol="0">
            <a:spAutoFit/>
          </a:bodyPr>
          <a:lstStyle/>
          <a:p>
            <a:r>
              <a:rPr lang="tr-TR" sz="1400" dirty="0"/>
              <a:t>1</a:t>
            </a:r>
          </a:p>
        </p:txBody>
      </p:sp>
      <p:sp>
        <p:nvSpPr>
          <p:cNvPr id="36" name="Metin kutusu 35">
            <a:extLst>
              <a:ext uri="{FF2B5EF4-FFF2-40B4-BE49-F238E27FC236}">
                <a16:creationId xmlns:a16="http://schemas.microsoft.com/office/drawing/2014/main" id="{EA0FD767-CF37-FD43-A083-D789A045F915}"/>
              </a:ext>
            </a:extLst>
          </p:cNvPr>
          <p:cNvSpPr txBox="1"/>
          <p:nvPr/>
        </p:nvSpPr>
        <p:spPr>
          <a:xfrm>
            <a:off x="3631740" y="2019952"/>
            <a:ext cx="279244" cy="307777"/>
          </a:xfrm>
          <a:prstGeom prst="rect">
            <a:avLst/>
          </a:prstGeom>
          <a:noFill/>
        </p:spPr>
        <p:txBody>
          <a:bodyPr wrap="none" rtlCol="0">
            <a:spAutoFit/>
          </a:bodyPr>
          <a:lstStyle/>
          <a:p>
            <a:r>
              <a:rPr lang="tr-TR" sz="1400" dirty="0"/>
              <a:t>n</a:t>
            </a:r>
          </a:p>
        </p:txBody>
      </p:sp>
      <p:sp>
        <p:nvSpPr>
          <p:cNvPr id="37" name="Metin kutusu 36">
            <a:extLst>
              <a:ext uri="{FF2B5EF4-FFF2-40B4-BE49-F238E27FC236}">
                <a16:creationId xmlns:a16="http://schemas.microsoft.com/office/drawing/2014/main" id="{097C52AB-96B7-B54F-D4BB-2F01E355EAD8}"/>
              </a:ext>
            </a:extLst>
          </p:cNvPr>
          <p:cNvSpPr txBox="1"/>
          <p:nvPr/>
        </p:nvSpPr>
        <p:spPr>
          <a:xfrm>
            <a:off x="7522392" y="2019952"/>
            <a:ext cx="276038" cy="307777"/>
          </a:xfrm>
          <a:prstGeom prst="rect">
            <a:avLst/>
          </a:prstGeom>
          <a:noFill/>
        </p:spPr>
        <p:txBody>
          <a:bodyPr wrap="none" rtlCol="0">
            <a:spAutoFit/>
          </a:bodyPr>
          <a:lstStyle/>
          <a:p>
            <a:r>
              <a:rPr lang="tr-TR" sz="1400" dirty="0"/>
              <a:t>1</a:t>
            </a:r>
          </a:p>
        </p:txBody>
      </p:sp>
      <p:sp>
        <p:nvSpPr>
          <p:cNvPr id="38" name="Metin kutusu 37">
            <a:extLst>
              <a:ext uri="{FF2B5EF4-FFF2-40B4-BE49-F238E27FC236}">
                <a16:creationId xmlns:a16="http://schemas.microsoft.com/office/drawing/2014/main" id="{4F6B6426-AD1A-26A2-A19C-734EDD1DC7D5}"/>
              </a:ext>
            </a:extLst>
          </p:cNvPr>
          <p:cNvSpPr txBox="1"/>
          <p:nvPr/>
        </p:nvSpPr>
        <p:spPr>
          <a:xfrm>
            <a:off x="7956158" y="2022150"/>
            <a:ext cx="279244" cy="307777"/>
          </a:xfrm>
          <a:prstGeom prst="rect">
            <a:avLst/>
          </a:prstGeom>
          <a:noFill/>
        </p:spPr>
        <p:txBody>
          <a:bodyPr wrap="none" rtlCol="0">
            <a:spAutoFit/>
          </a:bodyPr>
          <a:lstStyle/>
          <a:p>
            <a:r>
              <a:rPr lang="tr-TR" sz="1400" dirty="0"/>
              <a:t>n</a:t>
            </a:r>
          </a:p>
        </p:txBody>
      </p:sp>
      <p:sp>
        <p:nvSpPr>
          <p:cNvPr id="39" name="Metin kutusu 38">
            <a:extLst>
              <a:ext uri="{FF2B5EF4-FFF2-40B4-BE49-F238E27FC236}">
                <a16:creationId xmlns:a16="http://schemas.microsoft.com/office/drawing/2014/main" id="{8AA86752-BCBF-DC26-FE22-CAD57A93290D}"/>
              </a:ext>
            </a:extLst>
          </p:cNvPr>
          <p:cNvSpPr txBox="1"/>
          <p:nvPr/>
        </p:nvSpPr>
        <p:spPr>
          <a:xfrm>
            <a:off x="10051524" y="3435192"/>
            <a:ext cx="276038" cy="307777"/>
          </a:xfrm>
          <a:prstGeom prst="rect">
            <a:avLst/>
          </a:prstGeom>
          <a:noFill/>
        </p:spPr>
        <p:txBody>
          <a:bodyPr wrap="none" rtlCol="0">
            <a:spAutoFit/>
          </a:bodyPr>
          <a:lstStyle/>
          <a:p>
            <a:r>
              <a:rPr lang="tr-TR" sz="1400" dirty="0"/>
              <a:t>1</a:t>
            </a:r>
          </a:p>
        </p:txBody>
      </p:sp>
      <p:sp>
        <p:nvSpPr>
          <p:cNvPr id="40" name="Metin kutusu 39">
            <a:extLst>
              <a:ext uri="{FF2B5EF4-FFF2-40B4-BE49-F238E27FC236}">
                <a16:creationId xmlns:a16="http://schemas.microsoft.com/office/drawing/2014/main" id="{EDCFEBED-F175-252B-9A9A-7D85DA8BA390}"/>
              </a:ext>
            </a:extLst>
          </p:cNvPr>
          <p:cNvSpPr txBox="1"/>
          <p:nvPr/>
        </p:nvSpPr>
        <p:spPr>
          <a:xfrm>
            <a:off x="8969218" y="5239526"/>
            <a:ext cx="279244" cy="307777"/>
          </a:xfrm>
          <a:prstGeom prst="rect">
            <a:avLst/>
          </a:prstGeom>
          <a:noFill/>
        </p:spPr>
        <p:txBody>
          <a:bodyPr wrap="none" rtlCol="0">
            <a:spAutoFit/>
          </a:bodyPr>
          <a:lstStyle/>
          <a:p>
            <a:r>
              <a:rPr lang="tr-TR" sz="1400" dirty="0"/>
              <a:t>n</a:t>
            </a:r>
          </a:p>
        </p:txBody>
      </p:sp>
      <p:sp>
        <p:nvSpPr>
          <p:cNvPr id="41" name="Metin kutusu 40">
            <a:extLst>
              <a:ext uri="{FF2B5EF4-FFF2-40B4-BE49-F238E27FC236}">
                <a16:creationId xmlns:a16="http://schemas.microsoft.com/office/drawing/2014/main" id="{8A45F62C-874A-A605-D2A8-1A164B4C6FD5}"/>
              </a:ext>
            </a:extLst>
          </p:cNvPr>
          <p:cNvSpPr txBox="1"/>
          <p:nvPr/>
        </p:nvSpPr>
        <p:spPr>
          <a:xfrm>
            <a:off x="475930" y="865623"/>
            <a:ext cx="2391109" cy="369332"/>
          </a:xfrm>
          <a:prstGeom prst="rect">
            <a:avLst/>
          </a:prstGeom>
          <a:noFill/>
        </p:spPr>
        <p:txBody>
          <a:bodyPr wrap="square" rtlCol="0">
            <a:spAutoFit/>
          </a:bodyPr>
          <a:lstStyle/>
          <a:p>
            <a:pPr algn="ctr"/>
            <a:r>
              <a:rPr lang="tr-TR" dirty="0"/>
              <a:t>Şehir (</a:t>
            </a:r>
            <a:r>
              <a:rPr lang="tr-TR" dirty="0" err="1"/>
              <a:t>city</a:t>
            </a:r>
            <a:r>
              <a:rPr lang="tr-TR" dirty="0"/>
              <a:t>)</a:t>
            </a:r>
          </a:p>
        </p:txBody>
      </p:sp>
      <p:sp>
        <p:nvSpPr>
          <p:cNvPr id="42" name="Metin kutusu 41">
            <a:extLst>
              <a:ext uri="{FF2B5EF4-FFF2-40B4-BE49-F238E27FC236}">
                <a16:creationId xmlns:a16="http://schemas.microsoft.com/office/drawing/2014/main" id="{2EE8EE66-D159-10B6-236F-75243ACD4A81}"/>
              </a:ext>
            </a:extLst>
          </p:cNvPr>
          <p:cNvSpPr txBox="1"/>
          <p:nvPr/>
        </p:nvSpPr>
        <p:spPr>
          <a:xfrm>
            <a:off x="3993972" y="875490"/>
            <a:ext cx="3528420" cy="369332"/>
          </a:xfrm>
          <a:prstGeom prst="rect">
            <a:avLst/>
          </a:prstGeom>
          <a:noFill/>
        </p:spPr>
        <p:txBody>
          <a:bodyPr wrap="square" rtlCol="0">
            <a:spAutoFit/>
          </a:bodyPr>
          <a:lstStyle/>
          <a:p>
            <a:pPr algn="ctr"/>
            <a:r>
              <a:rPr lang="tr-TR" dirty="0"/>
              <a:t>İlçe (</a:t>
            </a:r>
            <a:r>
              <a:rPr lang="tr-TR" dirty="0" err="1"/>
              <a:t>district</a:t>
            </a:r>
            <a:r>
              <a:rPr lang="tr-TR" dirty="0"/>
              <a:t>)</a:t>
            </a:r>
          </a:p>
        </p:txBody>
      </p:sp>
      <p:sp>
        <p:nvSpPr>
          <p:cNvPr id="43" name="Metin kutusu 42">
            <a:extLst>
              <a:ext uri="{FF2B5EF4-FFF2-40B4-BE49-F238E27FC236}">
                <a16:creationId xmlns:a16="http://schemas.microsoft.com/office/drawing/2014/main" id="{A922B4CC-EAE4-7DDD-F838-FE52564C7405}"/>
              </a:ext>
            </a:extLst>
          </p:cNvPr>
          <p:cNvSpPr txBox="1"/>
          <p:nvPr/>
        </p:nvSpPr>
        <p:spPr>
          <a:xfrm>
            <a:off x="8256240" y="875490"/>
            <a:ext cx="3590569" cy="369332"/>
          </a:xfrm>
          <a:prstGeom prst="rect">
            <a:avLst/>
          </a:prstGeom>
          <a:noFill/>
        </p:spPr>
        <p:txBody>
          <a:bodyPr wrap="square" rtlCol="0">
            <a:spAutoFit/>
          </a:bodyPr>
          <a:lstStyle/>
          <a:p>
            <a:pPr algn="ctr"/>
            <a:r>
              <a:rPr lang="tr-TR" dirty="0"/>
              <a:t>Mahalle (</a:t>
            </a:r>
            <a:r>
              <a:rPr lang="tr-TR" dirty="0" err="1"/>
              <a:t>neighbourhood</a:t>
            </a:r>
            <a:r>
              <a:rPr lang="tr-TR" dirty="0"/>
              <a:t>)</a:t>
            </a:r>
          </a:p>
        </p:txBody>
      </p:sp>
      <p:sp>
        <p:nvSpPr>
          <p:cNvPr id="44" name="Metin kutusu 43">
            <a:extLst>
              <a:ext uri="{FF2B5EF4-FFF2-40B4-BE49-F238E27FC236}">
                <a16:creationId xmlns:a16="http://schemas.microsoft.com/office/drawing/2014/main" id="{A04F6762-7E5E-B29A-9312-18A2381D5E75}"/>
              </a:ext>
            </a:extLst>
          </p:cNvPr>
          <p:cNvSpPr txBox="1"/>
          <p:nvPr/>
        </p:nvSpPr>
        <p:spPr>
          <a:xfrm>
            <a:off x="3210274" y="4181727"/>
            <a:ext cx="5748127" cy="369332"/>
          </a:xfrm>
          <a:prstGeom prst="rect">
            <a:avLst/>
          </a:prstGeom>
          <a:noFill/>
        </p:spPr>
        <p:txBody>
          <a:bodyPr wrap="square" rtlCol="0">
            <a:spAutoFit/>
          </a:bodyPr>
          <a:lstStyle/>
          <a:p>
            <a:pPr algn="ctr"/>
            <a:r>
              <a:rPr lang="tr-TR" dirty="0"/>
              <a:t>Adres (</a:t>
            </a:r>
            <a:r>
              <a:rPr lang="tr-TR" dirty="0" err="1"/>
              <a:t>address</a:t>
            </a:r>
            <a:r>
              <a:rPr lang="tr-TR" dirty="0"/>
              <a:t>)</a:t>
            </a:r>
          </a:p>
        </p:txBody>
      </p:sp>
    </p:spTree>
    <p:extLst>
      <p:ext uri="{BB962C8B-B14F-4D97-AF65-F5344CB8AC3E}">
        <p14:creationId xmlns:p14="http://schemas.microsoft.com/office/powerpoint/2010/main" val="4244657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70FF53CE-F4B9-7237-416E-62B1E9F8F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612" y="1988840"/>
            <a:ext cx="7248776" cy="2880320"/>
          </a:xfrm>
          <a:prstGeom prst="rect">
            <a:avLst/>
          </a:prstGeom>
        </p:spPr>
      </p:pic>
      <p:sp>
        <p:nvSpPr>
          <p:cNvPr id="2" name="Metin kutusu 1">
            <a:extLst>
              <a:ext uri="{FF2B5EF4-FFF2-40B4-BE49-F238E27FC236}">
                <a16:creationId xmlns:a16="http://schemas.microsoft.com/office/drawing/2014/main" id="{F1AD0E76-C3AF-281E-4676-003756F1731C}"/>
              </a:ext>
            </a:extLst>
          </p:cNvPr>
          <p:cNvSpPr txBox="1"/>
          <p:nvPr/>
        </p:nvSpPr>
        <p:spPr>
          <a:xfrm>
            <a:off x="1055440" y="548680"/>
            <a:ext cx="2206694" cy="400110"/>
          </a:xfrm>
          <a:prstGeom prst="rect">
            <a:avLst/>
          </a:prstGeom>
          <a:noFill/>
        </p:spPr>
        <p:txBody>
          <a:bodyPr wrap="none" rtlCol="0">
            <a:spAutoFit/>
          </a:bodyPr>
          <a:lstStyle/>
          <a:p>
            <a:r>
              <a:rPr lang="tr-TR" sz="2000" b="1" dirty="0"/>
              <a:t>Örnek Adres Çıktısı</a:t>
            </a:r>
          </a:p>
        </p:txBody>
      </p:sp>
    </p:spTree>
    <p:extLst>
      <p:ext uri="{BB962C8B-B14F-4D97-AF65-F5344CB8AC3E}">
        <p14:creationId xmlns:p14="http://schemas.microsoft.com/office/powerpoint/2010/main" val="168949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8EC8F9E9-279A-63E6-9E5E-EC6F4353E105}"/>
              </a:ext>
            </a:extLst>
          </p:cNvPr>
          <p:cNvSpPr txBox="1"/>
          <p:nvPr/>
        </p:nvSpPr>
        <p:spPr>
          <a:xfrm>
            <a:off x="2899964" y="548680"/>
            <a:ext cx="6392071" cy="523220"/>
          </a:xfrm>
          <a:prstGeom prst="rect">
            <a:avLst/>
          </a:prstGeom>
          <a:noFill/>
        </p:spPr>
        <p:txBody>
          <a:bodyPr wrap="none" rtlCol="0">
            <a:spAutoFit/>
          </a:bodyPr>
          <a:lstStyle/>
          <a:p>
            <a:r>
              <a:rPr lang="tr-TR" sz="2800" b="1" dirty="0"/>
              <a:t>Çalışan ve Müşteri Tablosu Gereksinimleri</a:t>
            </a:r>
          </a:p>
        </p:txBody>
      </p:sp>
      <p:sp>
        <p:nvSpPr>
          <p:cNvPr id="3" name="Metin kutusu 2">
            <a:extLst>
              <a:ext uri="{FF2B5EF4-FFF2-40B4-BE49-F238E27FC236}">
                <a16:creationId xmlns:a16="http://schemas.microsoft.com/office/drawing/2014/main" id="{67E19A5C-D2E3-9CED-032F-CCB2E39E8D7B}"/>
              </a:ext>
            </a:extLst>
          </p:cNvPr>
          <p:cNvSpPr txBox="1"/>
          <p:nvPr/>
        </p:nvSpPr>
        <p:spPr>
          <a:xfrm>
            <a:off x="238124" y="1999944"/>
            <a:ext cx="11715750" cy="3693319"/>
          </a:xfrm>
          <a:prstGeom prst="rect">
            <a:avLst/>
          </a:prstGeom>
          <a:noFill/>
        </p:spPr>
        <p:txBody>
          <a:bodyPr wrap="square" rtlCol="0">
            <a:spAutoFit/>
          </a:bodyPr>
          <a:lstStyle/>
          <a:p>
            <a:pPr algn="just"/>
            <a:r>
              <a:rPr lang="tr-TR" b="1" dirty="0"/>
              <a:t>Amacı ve Saklanacak Veriler:</a:t>
            </a:r>
            <a:r>
              <a:rPr lang="tr-TR" dirty="0"/>
              <a:t> Sisteme kayıtlı müşterilerin (TC, ad, </a:t>
            </a:r>
            <a:r>
              <a:rPr lang="tr-TR" dirty="0" err="1"/>
              <a:t>soyad</a:t>
            </a:r>
            <a:r>
              <a:rPr lang="tr-TR" dirty="0"/>
              <a:t>, kayıt tarihi) ve teknik servis çalışanlarının (TC, ad, </a:t>
            </a:r>
            <a:r>
              <a:rPr lang="tr-TR" dirty="0" err="1"/>
              <a:t>soyad</a:t>
            </a:r>
            <a:r>
              <a:rPr lang="tr-TR" dirty="0"/>
              <a:t>, doğum ve işe başlama tarihi) kişisel bilgilerinin güvenli bir şekilde tutulmasını hedefledim.</a:t>
            </a:r>
          </a:p>
          <a:p>
            <a:pPr algn="just"/>
            <a:endParaRPr lang="tr-TR" dirty="0"/>
          </a:p>
          <a:p>
            <a:pPr algn="just"/>
            <a:r>
              <a:rPr lang="tr-TR" b="1" dirty="0"/>
              <a:t>Tablo Yapısı:</a:t>
            </a:r>
            <a:r>
              <a:rPr lang="tr-TR" dirty="0"/>
              <a:t> Analizlerim sonucunda, müşteri ve çalışan profillerinin "adres" ve "iletişim" gibi ortak verilere ihtiyaç duyduğunu fark ettim. Veri tekrarının ve kalabalığının önüne geçmek, modülerliği artırmak için bu bilgileri ana tablolardan ayırarak iletişim (</a:t>
            </a:r>
            <a:r>
              <a:rPr lang="tr-TR" dirty="0" err="1"/>
              <a:t>contact</a:t>
            </a:r>
            <a:r>
              <a:rPr lang="tr-TR" dirty="0"/>
              <a:t>) ve adres (</a:t>
            </a:r>
            <a:r>
              <a:rPr lang="tr-TR" dirty="0" err="1"/>
              <a:t>address</a:t>
            </a:r>
            <a:r>
              <a:rPr lang="tr-TR" dirty="0"/>
              <a:t>) adlı bağımsız tablolara böldüm. Ayrıca, personel unvanlarındaki manuel yazım hatalarını engellemek ve raporlamayı kolaylaştırmak için rol (role) tablosu tasarladım.</a:t>
            </a:r>
          </a:p>
          <a:p>
            <a:pPr algn="just"/>
            <a:endParaRPr lang="tr-TR" dirty="0"/>
          </a:p>
          <a:p>
            <a:r>
              <a:rPr lang="tr-TR" b="1" dirty="0"/>
              <a:t>Veriler Arası İlişkiler (</a:t>
            </a:r>
            <a:r>
              <a:rPr lang="tr-TR" b="1" dirty="0" err="1"/>
              <a:t>Kardinalite</a:t>
            </a:r>
            <a:r>
              <a:rPr lang="tr-TR" b="1" dirty="0"/>
              <a:t>):</a:t>
            </a:r>
            <a:r>
              <a:rPr lang="tr-TR" dirty="0"/>
              <a:t> Modüler yapıyı birbirine bağlamak için tablolar arasında şu ilişkileri kurdum:</a:t>
            </a:r>
          </a:p>
          <a:p>
            <a:pPr marL="285750" indent="-285750">
              <a:buFont typeface="Arial" panose="020B0604020202020204" pitchFamily="34" charset="0"/>
              <a:buChar char="•"/>
            </a:pPr>
            <a:r>
              <a:rPr lang="tr-TR" b="1" dirty="0"/>
              <a:t>Çalışan/Müşteri - İletişim ve Adres (1:1):</a:t>
            </a:r>
            <a:r>
              <a:rPr lang="tr-TR" dirty="0"/>
              <a:t> Sistemde kayıtlı olan her bir müşterinin (</a:t>
            </a:r>
            <a:r>
              <a:rPr lang="tr-TR" dirty="0" err="1"/>
              <a:t>customer</a:t>
            </a:r>
            <a:r>
              <a:rPr lang="tr-TR" dirty="0"/>
              <a:t>) ve çalışanın (</a:t>
            </a:r>
            <a:r>
              <a:rPr lang="tr-TR" dirty="0" err="1"/>
              <a:t>employee</a:t>
            </a:r>
            <a:r>
              <a:rPr lang="tr-TR" dirty="0"/>
              <a:t>) yalnızca kendine ait, benzersiz tek bir iletişim (</a:t>
            </a:r>
            <a:r>
              <a:rPr lang="tr-TR" dirty="0" err="1"/>
              <a:t>contact</a:t>
            </a:r>
            <a:r>
              <a:rPr lang="tr-TR" dirty="0"/>
              <a:t>) ve tek bir açık adres (</a:t>
            </a:r>
            <a:r>
              <a:rPr lang="tr-TR" dirty="0" err="1"/>
              <a:t>address</a:t>
            </a:r>
            <a:r>
              <a:rPr lang="tr-TR" dirty="0"/>
              <a:t>) kaydı olmasını sağladım (1:1).</a:t>
            </a:r>
          </a:p>
          <a:p>
            <a:pPr marL="285750" indent="-285750">
              <a:buFont typeface="Arial" panose="020B0604020202020204" pitchFamily="34" charset="0"/>
              <a:buChar char="•"/>
            </a:pPr>
            <a:r>
              <a:rPr lang="tr-TR" b="1" dirty="0"/>
              <a:t>Rol - Çalışan (1:N):</a:t>
            </a:r>
            <a:r>
              <a:rPr lang="tr-TR" dirty="0"/>
              <a:t> Sistemde tanımlanan tek bir rolün (role), birden fazla çalışana (</a:t>
            </a:r>
            <a:r>
              <a:rPr lang="tr-TR" dirty="0" err="1"/>
              <a:t>employee</a:t>
            </a:r>
            <a:r>
              <a:rPr lang="tr-TR" dirty="0"/>
              <a:t>) atanabilmesine olanak tanıdım (1:N).</a:t>
            </a:r>
          </a:p>
        </p:txBody>
      </p:sp>
      <p:pic>
        <p:nvPicPr>
          <p:cNvPr id="5" name="Resim 4">
            <a:extLst>
              <a:ext uri="{FF2B5EF4-FFF2-40B4-BE49-F238E27FC236}">
                <a16:creationId xmlns:a16="http://schemas.microsoft.com/office/drawing/2014/main" id="{4C8F2E83-5BC6-8A5E-9C86-232339025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6400" y="175910"/>
            <a:ext cx="1440160" cy="1268760"/>
          </a:xfrm>
          <a:prstGeom prst="rect">
            <a:avLst/>
          </a:prstGeom>
        </p:spPr>
      </p:pic>
    </p:spTree>
    <p:extLst>
      <p:ext uri="{BB962C8B-B14F-4D97-AF65-F5344CB8AC3E}">
        <p14:creationId xmlns:p14="http://schemas.microsoft.com/office/powerpoint/2010/main" val="1301974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87B5B27F-F402-123E-9324-02D2B8E08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360" y="548680"/>
            <a:ext cx="11521280" cy="5760639"/>
          </a:xfrm>
          <a:prstGeom prst="rect">
            <a:avLst/>
          </a:prstGeom>
        </p:spPr>
      </p:pic>
      <p:sp>
        <p:nvSpPr>
          <p:cNvPr id="4" name="Metin kutusu 3">
            <a:extLst>
              <a:ext uri="{FF2B5EF4-FFF2-40B4-BE49-F238E27FC236}">
                <a16:creationId xmlns:a16="http://schemas.microsoft.com/office/drawing/2014/main" id="{8EA67D0A-EFCA-61EA-7F12-EE80BB50BACA}"/>
              </a:ext>
            </a:extLst>
          </p:cNvPr>
          <p:cNvSpPr txBox="1"/>
          <p:nvPr/>
        </p:nvSpPr>
        <p:spPr>
          <a:xfrm>
            <a:off x="1055440" y="148570"/>
            <a:ext cx="3012812" cy="400110"/>
          </a:xfrm>
          <a:prstGeom prst="rect">
            <a:avLst/>
          </a:prstGeom>
          <a:noFill/>
        </p:spPr>
        <p:txBody>
          <a:bodyPr wrap="none" rtlCol="0">
            <a:spAutoFit/>
          </a:bodyPr>
          <a:lstStyle/>
          <a:p>
            <a:r>
              <a:rPr lang="tr-TR" sz="2000" b="1" dirty="0"/>
              <a:t>Müşteri/Çalışan Diyagramı</a:t>
            </a:r>
          </a:p>
        </p:txBody>
      </p:sp>
    </p:spTree>
    <p:extLst>
      <p:ext uri="{BB962C8B-B14F-4D97-AF65-F5344CB8AC3E}">
        <p14:creationId xmlns:p14="http://schemas.microsoft.com/office/powerpoint/2010/main" val="1725994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1A7B686-697F-5AA9-E471-2F4665630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1268760"/>
            <a:ext cx="8640960" cy="4320480"/>
          </a:xfrm>
          <a:prstGeom prst="rect">
            <a:avLst/>
          </a:prstGeom>
        </p:spPr>
      </p:pic>
    </p:spTree>
    <p:extLst>
      <p:ext uri="{BB962C8B-B14F-4D97-AF65-F5344CB8AC3E}">
        <p14:creationId xmlns:p14="http://schemas.microsoft.com/office/powerpoint/2010/main" val="2423159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19861E9E-0E41-0D2A-FF59-CBBA05CBF1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4707" y="710732"/>
            <a:ext cx="6182588" cy="924054"/>
          </a:xfrm>
          <a:prstGeom prst="rect">
            <a:avLst/>
          </a:prstGeom>
        </p:spPr>
      </p:pic>
      <p:pic>
        <p:nvPicPr>
          <p:cNvPr id="5" name="Resim 4">
            <a:extLst>
              <a:ext uri="{FF2B5EF4-FFF2-40B4-BE49-F238E27FC236}">
                <a16:creationId xmlns:a16="http://schemas.microsoft.com/office/drawing/2014/main" id="{271A6C13-EEA2-2921-1849-D5F44FE05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6837" y="2355142"/>
            <a:ext cx="8078327" cy="1143160"/>
          </a:xfrm>
          <a:prstGeom prst="rect">
            <a:avLst/>
          </a:prstGeom>
        </p:spPr>
      </p:pic>
      <p:pic>
        <p:nvPicPr>
          <p:cNvPr id="7" name="Resim 6">
            <a:extLst>
              <a:ext uri="{FF2B5EF4-FFF2-40B4-BE49-F238E27FC236}">
                <a16:creationId xmlns:a16="http://schemas.microsoft.com/office/drawing/2014/main" id="{60F7F270-16A5-6DE6-38E3-E0A98AD839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8176" y="4613528"/>
            <a:ext cx="4086795" cy="1533739"/>
          </a:xfrm>
          <a:prstGeom prst="rect">
            <a:avLst/>
          </a:prstGeom>
        </p:spPr>
      </p:pic>
      <p:pic>
        <p:nvPicPr>
          <p:cNvPr id="9" name="Resim 8">
            <a:extLst>
              <a:ext uri="{FF2B5EF4-FFF2-40B4-BE49-F238E27FC236}">
                <a16:creationId xmlns:a16="http://schemas.microsoft.com/office/drawing/2014/main" id="{D5196C8C-E580-5C2E-AB70-FA4E6D6B1F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7365" y="4613529"/>
            <a:ext cx="4277322" cy="1533739"/>
          </a:xfrm>
          <a:prstGeom prst="rect">
            <a:avLst/>
          </a:prstGeom>
        </p:spPr>
      </p:pic>
      <p:sp>
        <p:nvSpPr>
          <p:cNvPr id="10" name="Metin kutusu 9">
            <a:extLst>
              <a:ext uri="{FF2B5EF4-FFF2-40B4-BE49-F238E27FC236}">
                <a16:creationId xmlns:a16="http://schemas.microsoft.com/office/drawing/2014/main" id="{67A46D4C-8E27-E9C1-43C4-A7477F4B10DE}"/>
              </a:ext>
            </a:extLst>
          </p:cNvPr>
          <p:cNvSpPr txBox="1"/>
          <p:nvPr/>
        </p:nvSpPr>
        <p:spPr>
          <a:xfrm>
            <a:off x="267363" y="6147267"/>
            <a:ext cx="4277322" cy="369332"/>
          </a:xfrm>
          <a:prstGeom prst="rect">
            <a:avLst/>
          </a:prstGeom>
          <a:noFill/>
        </p:spPr>
        <p:txBody>
          <a:bodyPr wrap="square" rtlCol="0">
            <a:spAutoFit/>
          </a:bodyPr>
          <a:lstStyle/>
          <a:p>
            <a:pPr algn="ctr"/>
            <a:r>
              <a:rPr lang="tr-TR" dirty="0"/>
              <a:t>İletişim (</a:t>
            </a:r>
            <a:r>
              <a:rPr lang="tr-TR" dirty="0" err="1"/>
              <a:t>contact</a:t>
            </a:r>
            <a:r>
              <a:rPr lang="tr-TR" dirty="0"/>
              <a:t>)</a:t>
            </a:r>
          </a:p>
        </p:txBody>
      </p:sp>
      <p:sp>
        <p:nvSpPr>
          <p:cNvPr id="11" name="Metin kutusu 10">
            <a:extLst>
              <a:ext uri="{FF2B5EF4-FFF2-40B4-BE49-F238E27FC236}">
                <a16:creationId xmlns:a16="http://schemas.microsoft.com/office/drawing/2014/main" id="{BE57791F-4272-FB2C-6BDA-6B2A460EC202}"/>
              </a:ext>
            </a:extLst>
          </p:cNvPr>
          <p:cNvSpPr txBox="1"/>
          <p:nvPr/>
        </p:nvSpPr>
        <p:spPr>
          <a:xfrm>
            <a:off x="7818174" y="6147267"/>
            <a:ext cx="4086795" cy="369332"/>
          </a:xfrm>
          <a:prstGeom prst="rect">
            <a:avLst/>
          </a:prstGeom>
          <a:noFill/>
        </p:spPr>
        <p:txBody>
          <a:bodyPr wrap="square" rtlCol="0">
            <a:spAutoFit/>
          </a:bodyPr>
          <a:lstStyle/>
          <a:p>
            <a:pPr algn="ctr"/>
            <a:r>
              <a:rPr lang="tr-TR" dirty="0"/>
              <a:t>Adres (</a:t>
            </a:r>
            <a:r>
              <a:rPr lang="tr-TR" dirty="0" err="1"/>
              <a:t>address</a:t>
            </a:r>
            <a:r>
              <a:rPr lang="tr-TR" dirty="0"/>
              <a:t>)</a:t>
            </a:r>
          </a:p>
        </p:txBody>
      </p:sp>
      <p:sp>
        <p:nvSpPr>
          <p:cNvPr id="12" name="Metin kutusu 11">
            <a:extLst>
              <a:ext uri="{FF2B5EF4-FFF2-40B4-BE49-F238E27FC236}">
                <a16:creationId xmlns:a16="http://schemas.microsoft.com/office/drawing/2014/main" id="{19B6CFDF-B0A8-5B32-16EE-A5E6F7C8DA85}"/>
              </a:ext>
            </a:extLst>
          </p:cNvPr>
          <p:cNvSpPr txBox="1"/>
          <p:nvPr/>
        </p:nvSpPr>
        <p:spPr>
          <a:xfrm>
            <a:off x="3004706" y="341400"/>
            <a:ext cx="6182588" cy="369332"/>
          </a:xfrm>
          <a:prstGeom prst="rect">
            <a:avLst/>
          </a:prstGeom>
          <a:noFill/>
        </p:spPr>
        <p:txBody>
          <a:bodyPr wrap="square" rtlCol="0">
            <a:spAutoFit/>
          </a:bodyPr>
          <a:lstStyle/>
          <a:p>
            <a:pPr algn="ctr"/>
            <a:r>
              <a:rPr lang="tr-TR" dirty="0"/>
              <a:t>Müşteri (</a:t>
            </a:r>
            <a:r>
              <a:rPr lang="tr-TR" dirty="0" err="1"/>
              <a:t>customer</a:t>
            </a:r>
            <a:r>
              <a:rPr lang="tr-TR" dirty="0"/>
              <a:t>)</a:t>
            </a:r>
          </a:p>
        </p:txBody>
      </p:sp>
      <p:sp>
        <p:nvSpPr>
          <p:cNvPr id="13" name="Metin kutusu 12">
            <a:extLst>
              <a:ext uri="{FF2B5EF4-FFF2-40B4-BE49-F238E27FC236}">
                <a16:creationId xmlns:a16="http://schemas.microsoft.com/office/drawing/2014/main" id="{E3057CBD-3738-0300-C772-94AAC423E01B}"/>
              </a:ext>
            </a:extLst>
          </p:cNvPr>
          <p:cNvSpPr txBox="1"/>
          <p:nvPr/>
        </p:nvSpPr>
        <p:spPr>
          <a:xfrm>
            <a:off x="2056837" y="1985809"/>
            <a:ext cx="8078327" cy="369332"/>
          </a:xfrm>
          <a:prstGeom prst="rect">
            <a:avLst/>
          </a:prstGeom>
          <a:noFill/>
        </p:spPr>
        <p:txBody>
          <a:bodyPr wrap="square" rtlCol="0">
            <a:spAutoFit/>
          </a:bodyPr>
          <a:lstStyle/>
          <a:p>
            <a:pPr algn="ctr"/>
            <a:r>
              <a:rPr lang="tr-TR" dirty="0"/>
              <a:t>Çalışan (</a:t>
            </a:r>
            <a:r>
              <a:rPr lang="tr-TR" dirty="0" err="1"/>
              <a:t>employee</a:t>
            </a:r>
            <a:r>
              <a:rPr lang="tr-TR" dirty="0"/>
              <a:t>)</a:t>
            </a:r>
          </a:p>
        </p:txBody>
      </p:sp>
      <p:pic>
        <p:nvPicPr>
          <p:cNvPr id="15" name="Resim 14">
            <a:extLst>
              <a:ext uri="{FF2B5EF4-FFF2-40B4-BE49-F238E27FC236}">
                <a16:creationId xmlns:a16="http://schemas.microsoft.com/office/drawing/2014/main" id="{C21E8D41-986A-0AEC-176B-D01C3F9722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04929" y="4623054"/>
            <a:ext cx="2353003" cy="1524213"/>
          </a:xfrm>
          <a:prstGeom prst="rect">
            <a:avLst/>
          </a:prstGeom>
        </p:spPr>
      </p:pic>
      <p:sp>
        <p:nvSpPr>
          <p:cNvPr id="16" name="Metin kutusu 15">
            <a:extLst>
              <a:ext uri="{FF2B5EF4-FFF2-40B4-BE49-F238E27FC236}">
                <a16:creationId xmlns:a16="http://schemas.microsoft.com/office/drawing/2014/main" id="{F774C107-B172-2790-41D5-AA2024D5C3BB}"/>
              </a:ext>
            </a:extLst>
          </p:cNvPr>
          <p:cNvSpPr txBox="1"/>
          <p:nvPr/>
        </p:nvSpPr>
        <p:spPr>
          <a:xfrm>
            <a:off x="5004929" y="6147267"/>
            <a:ext cx="2353003" cy="369332"/>
          </a:xfrm>
          <a:prstGeom prst="rect">
            <a:avLst/>
          </a:prstGeom>
          <a:noFill/>
        </p:spPr>
        <p:txBody>
          <a:bodyPr wrap="square" rtlCol="0">
            <a:spAutoFit/>
          </a:bodyPr>
          <a:lstStyle/>
          <a:p>
            <a:pPr algn="ctr"/>
            <a:r>
              <a:rPr lang="tr-TR" dirty="0"/>
              <a:t>Rol (role)</a:t>
            </a:r>
          </a:p>
        </p:txBody>
      </p:sp>
      <p:cxnSp>
        <p:nvCxnSpPr>
          <p:cNvPr id="20" name="Düz Bağlayıcı 19">
            <a:extLst>
              <a:ext uri="{FF2B5EF4-FFF2-40B4-BE49-F238E27FC236}">
                <a16:creationId xmlns:a16="http://schemas.microsoft.com/office/drawing/2014/main" id="{9163C321-2A3B-8AE2-F252-88FF780BC7BB}"/>
              </a:ext>
            </a:extLst>
          </p:cNvPr>
          <p:cNvCxnSpPr>
            <a:cxnSpLocks/>
          </p:cNvCxnSpPr>
          <p:nvPr/>
        </p:nvCxnSpPr>
        <p:spPr>
          <a:xfrm flipV="1">
            <a:off x="806245" y="1172759"/>
            <a:ext cx="0" cy="3440769"/>
          </a:xfrm>
          <a:prstGeom prst="line">
            <a:avLst/>
          </a:prstGeom>
          <a:ln w="12700"/>
        </p:spPr>
        <p:style>
          <a:lnRef idx="1">
            <a:schemeClr val="dk1"/>
          </a:lnRef>
          <a:fillRef idx="0">
            <a:schemeClr val="dk1"/>
          </a:fillRef>
          <a:effectRef idx="0">
            <a:schemeClr val="dk1"/>
          </a:effectRef>
          <a:fontRef idx="minor">
            <a:schemeClr val="tx1"/>
          </a:fontRef>
        </p:style>
      </p:cxnSp>
      <p:cxnSp>
        <p:nvCxnSpPr>
          <p:cNvPr id="22" name="Düz Ok Bağlayıcısı 21">
            <a:extLst>
              <a:ext uri="{FF2B5EF4-FFF2-40B4-BE49-F238E27FC236}">
                <a16:creationId xmlns:a16="http://schemas.microsoft.com/office/drawing/2014/main" id="{45243511-6225-FF7B-3B55-B858B7C1B9D3}"/>
              </a:ext>
            </a:extLst>
          </p:cNvPr>
          <p:cNvCxnSpPr>
            <a:cxnSpLocks/>
            <a:endCxn id="3" idx="1"/>
          </p:cNvCxnSpPr>
          <p:nvPr/>
        </p:nvCxnSpPr>
        <p:spPr>
          <a:xfrm>
            <a:off x="806245" y="1172759"/>
            <a:ext cx="219846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Düz Bağlayıcı 24">
            <a:extLst>
              <a:ext uri="{FF2B5EF4-FFF2-40B4-BE49-F238E27FC236}">
                <a16:creationId xmlns:a16="http://schemas.microsoft.com/office/drawing/2014/main" id="{ACC980C9-9060-F688-5867-1F4774F290B2}"/>
              </a:ext>
            </a:extLst>
          </p:cNvPr>
          <p:cNvCxnSpPr>
            <a:cxnSpLocks/>
          </p:cNvCxnSpPr>
          <p:nvPr/>
        </p:nvCxnSpPr>
        <p:spPr>
          <a:xfrm flipV="1">
            <a:off x="11587316" y="1172758"/>
            <a:ext cx="0" cy="3440769"/>
          </a:xfrm>
          <a:prstGeom prst="line">
            <a:avLst/>
          </a:prstGeom>
          <a:ln w="12700"/>
        </p:spPr>
        <p:style>
          <a:lnRef idx="1">
            <a:schemeClr val="dk1"/>
          </a:lnRef>
          <a:fillRef idx="0">
            <a:schemeClr val="dk1"/>
          </a:fillRef>
          <a:effectRef idx="0">
            <a:schemeClr val="dk1"/>
          </a:effectRef>
          <a:fontRef idx="minor">
            <a:schemeClr val="tx1"/>
          </a:fontRef>
        </p:style>
      </p:cxnSp>
      <p:cxnSp>
        <p:nvCxnSpPr>
          <p:cNvPr id="26" name="Düz Ok Bağlayıcısı 25">
            <a:extLst>
              <a:ext uri="{FF2B5EF4-FFF2-40B4-BE49-F238E27FC236}">
                <a16:creationId xmlns:a16="http://schemas.microsoft.com/office/drawing/2014/main" id="{BA1E4D7E-DC91-CA63-ACCA-8BCC02D754F4}"/>
              </a:ext>
            </a:extLst>
          </p:cNvPr>
          <p:cNvCxnSpPr>
            <a:cxnSpLocks/>
            <a:endCxn id="3" idx="3"/>
          </p:cNvCxnSpPr>
          <p:nvPr/>
        </p:nvCxnSpPr>
        <p:spPr>
          <a:xfrm flipH="1" flipV="1">
            <a:off x="9187295" y="1172759"/>
            <a:ext cx="2400020" cy="695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 name="Düz Ok Bağlayıcısı 29">
            <a:extLst>
              <a:ext uri="{FF2B5EF4-FFF2-40B4-BE49-F238E27FC236}">
                <a16:creationId xmlns:a16="http://schemas.microsoft.com/office/drawing/2014/main" id="{25A98887-7A2F-0E92-4450-61CA11F07604}"/>
              </a:ext>
            </a:extLst>
          </p:cNvPr>
          <p:cNvCxnSpPr>
            <a:stCxn id="15" idx="0"/>
          </p:cNvCxnSpPr>
          <p:nvPr/>
        </p:nvCxnSpPr>
        <p:spPr>
          <a:xfrm flipH="1" flipV="1">
            <a:off x="6181430" y="3498302"/>
            <a:ext cx="1" cy="112475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2" name="Düz Ok Bağlayıcısı 31">
            <a:extLst>
              <a:ext uri="{FF2B5EF4-FFF2-40B4-BE49-F238E27FC236}">
                <a16:creationId xmlns:a16="http://schemas.microsoft.com/office/drawing/2014/main" id="{C05AAE86-C031-D831-0CC2-046CE01CF44C}"/>
              </a:ext>
            </a:extLst>
          </p:cNvPr>
          <p:cNvCxnSpPr>
            <a:cxnSpLocks/>
            <a:endCxn id="5" idx="1"/>
          </p:cNvCxnSpPr>
          <p:nvPr/>
        </p:nvCxnSpPr>
        <p:spPr>
          <a:xfrm>
            <a:off x="806245" y="2926722"/>
            <a:ext cx="125059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 name="Düz Ok Bağlayıcısı 34">
            <a:extLst>
              <a:ext uri="{FF2B5EF4-FFF2-40B4-BE49-F238E27FC236}">
                <a16:creationId xmlns:a16="http://schemas.microsoft.com/office/drawing/2014/main" id="{C1F36E2A-F5F2-9FFC-AA87-393BF69A3C5B}"/>
              </a:ext>
            </a:extLst>
          </p:cNvPr>
          <p:cNvCxnSpPr>
            <a:cxnSpLocks/>
            <a:endCxn id="5" idx="3"/>
          </p:cNvCxnSpPr>
          <p:nvPr/>
        </p:nvCxnSpPr>
        <p:spPr>
          <a:xfrm flipH="1">
            <a:off x="10135164" y="2926722"/>
            <a:ext cx="14521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Metin kutusu 37">
            <a:extLst>
              <a:ext uri="{FF2B5EF4-FFF2-40B4-BE49-F238E27FC236}">
                <a16:creationId xmlns:a16="http://schemas.microsoft.com/office/drawing/2014/main" id="{FA5FDFD9-6E8F-D3D4-C4B5-2A5988466F7A}"/>
              </a:ext>
            </a:extLst>
          </p:cNvPr>
          <p:cNvSpPr txBox="1"/>
          <p:nvPr/>
        </p:nvSpPr>
        <p:spPr>
          <a:xfrm>
            <a:off x="827054" y="4305750"/>
            <a:ext cx="276038" cy="307777"/>
          </a:xfrm>
          <a:prstGeom prst="rect">
            <a:avLst/>
          </a:prstGeom>
          <a:noFill/>
        </p:spPr>
        <p:txBody>
          <a:bodyPr wrap="none" rtlCol="0">
            <a:spAutoFit/>
          </a:bodyPr>
          <a:lstStyle/>
          <a:p>
            <a:r>
              <a:rPr lang="tr-TR" sz="1400" dirty="0"/>
              <a:t>1</a:t>
            </a:r>
          </a:p>
        </p:txBody>
      </p:sp>
      <p:sp>
        <p:nvSpPr>
          <p:cNvPr id="39" name="Metin kutusu 38">
            <a:extLst>
              <a:ext uri="{FF2B5EF4-FFF2-40B4-BE49-F238E27FC236}">
                <a16:creationId xmlns:a16="http://schemas.microsoft.com/office/drawing/2014/main" id="{1BA93563-A854-19DF-514C-908E5DCF90D1}"/>
              </a:ext>
            </a:extLst>
          </p:cNvPr>
          <p:cNvSpPr txBox="1"/>
          <p:nvPr/>
        </p:nvSpPr>
        <p:spPr>
          <a:xfrm>
            <a:off x="1767457" y="2621143"/>
            <a:ext cx="276038" cy="307777"/>
          </a:xfrm>
          <a:prstGeom prst="rect">
            <a:avLst/>
          </a:prstGeom>
          <a:noFill/>
        </p:spPr>
        <p:txBody>
          <a:bodyPr wrap="none" rtlCol="0">
            <a:spAutoFit/>
          </a:bodyPr>
          <a:lstStyle/>
          <a:p>
            <a:r>
              <a:rPr lang="tr-TR" sz="1400" dirty="0"/>
              <a:t>1</a:t>
            </a:r>
          </a:p>
        </p:txBody>
      </p:sp>
      <p:sp>
        <p:nvSpPr>
          <p:cNvPr id="40" name="Metin kutusu 39">
            <a:extLst>
              <a:ext uri="{FF2B5EF4-FFF2-40B4-BE49-F238E27FC236}">
                <a16:creationId xmlns:a16="http://schemas.microsoft.com/office/drawing/2014/main" id="{52F2123F-5FF9-6FA9-D90E-129C6DB36D69}"/>
              </a:ext>
            </a:extLst>
          </p:cNvPr>
          <p:cNvSpPr txBox="1"/>
          <p:nvPr/>
        </p:nvSpPr>
        <p:spPr>
          <a:xfrm>
            <a:off x="2728669" y="871937"/>
            <a:ext cx="276038" cy="307777"/>
          </a:xfrm>
          <a:prstGeom prst="rect">
            <a:avLst/>
          </a:prstGeom>
          <a:noFill/>
        </p:spPr>
        <p:txBody>
          <a:bodyPr wrap="none" rtlCol="0">
            <a:spAutoFit/>
          </a:bodyPr>
          <a:lstStyle/>
          <a:p>
            <a:r>
              <a:rPr lang="tr-TR" sz="1400" dirty="0"/>
              <a:t>1</a:t>
            </a:r>
          </a:p>
        </p:txBody>
      </p:sp>
      <p:sp>
        <p:nvSpPr>
          <p:cNvPr id="41" name="Metin kutusu 40">
            <a:extLst>
              <a:ext uri="{FF2B5EF4-FFF2-40B4-BE49-F238E27FC236}">
                <a16:creationId xmlns:a16="http://schemas.microsoft.com/office/drawing/2014/main" id="{F4CA3636-7836-7180-20E7-785E4165C448}"/>
              </a:ext>
            </a:extLst>
          </p:cNvPr>
          <p:cNvSpPr txBox="1"/>
          <p:nvPr/>
        </p:nvSpPr>
        <p:spPr>
          <a:xfrm>
            <a:off x="11280577" y="4315277"/>
            <a:ext cx="276038" cy="307777"/>
          </a:xfrm>
          <a:prstGeom prst="rect">
            <a:avLst/>
          </a:prstGeom>
          <a:noFill/>
        </p:spPr>
        <p:txBody>
          <a:bodyPr wrap="none" rtlCol="0">
            <a:spAutoFit/>
          </a:bodyPr>
          <a:lstStyle/>
          <a:p>
            <a:r>
              <a:rPr lang="tr-TR" sz="1400" dirty="0"/>
              <a:t>1</a:t>
            </a:r>
          </a:p>
        </p:txBody>
      </p:sp>
      <p:sp>
        <p:nvSpPr>
          <p:cNvPr id="42" name="Metin kutusu 41">
            <a:extLst>
              <a:ext uri="{FF2B5EF4-FFF2-40B4-BE49-F238E27FC236}">
                <a16:creationId xmlns:a16="http://schemas.microsoft.com/office/drawing/2014/main" id="{27B37F1B-AAD6-6E14-B0B6-06B6B74C9980}"/>
              </a:ext>
            </a:extLst>
          </p:cNvPr>
          <p:cNvSpPr txBox="1"/>
          <p:nvPr/>
        </p:nvSpPr>
        <p:spPr>
          <a:xfrm>
            <a:off x="10148505" y="2619934"/>
            <a:ext cx="276038" cy="307777"/>
          </a:xfrm>
          <a:prstGeom prst="rect">
            <a:avLst/>
          </a:prstGeom>
          <a:noFill/>
        </p:spPr>
        <p:txBody>
          <a:bodyPr wrap="none" rtlCol="0">
            <a:spAutoFit/>
          </a:bodyPr>
          <a:lstStyle/>
          <a:p>
            <a:r>
              <a:rPr lang="tr-TR" sz="1400" dirty="0"/>
              <a:t>1</a:t>
            </a:r>
          </a:p>
        </p:txBody>
      </p:sp>
      <p:sp>
        <p:nvSpPr>
          <p:cNvPr id="43" name="Metin kutusu 42">
            <a:extLst>
              <a:ext uri="{FF2B5EF4-FFF2-40B4-BE49-F238E27FC236}">
                <a16:creationId xmlns:a16="http://schemas.microsoft.com/office/drawing/2014/main" id="{A4D7072B-8DFF-E75D-4AC1-EE46D125A56A}"/>
              </a:ext>
            </a:extLst>
          </p:cNvPr>
          <p:cNvSpPr txBox="1"/>
          <p:nvPr/>
        </p:nvSpPr>
        <p:spPr>
          <a:xfrm>
            <a:off x="9187293" y="858873"/>
            <a:ext cx="276038" cy="307777"/>
          </a:xfrm>
          <a:prstGeom prst="rect">
            <a:avLst/>
          </a:prstGeom>
          <a:noFill/>
        </p:spPr>
        <p:txBody>
          <a:bodyPr wrap="none" rtlCol="0">
            <a:spAutoFit/>
          </a:bodyPr>
          <a:lstStyle/>
          <a:p>
            <a:r>
              <a:rPr lang="tr-TR" sz="1400" dirty="0"/>
              <a:t>1</a:t>
            </a:r>
          </a:p>
        </p:txBody>
      </p:sp>
      <p:sp>
        <p:nvSpPr>
          <p:cNvPr id="44" name="Metin kutusu 43">
            <a:extLst>
              <a:ext uri="{FF2B5EF4-FFF2-40B4-BE49-F238E27FC236}">
                <a16:creationId xmlns:a16="http://schemas.microsoft.com/office/drawing/2014/main" id="{8E615F23-C055-49D0-0F05-AE4DB1FE6B98}"/>
              </a:ext>
            </a:extLst>
          </p:cNvPr>
          <p:cNvSpPr txBox="1"/>
          <p:nvPr/>
        </p:nvSpPr>
        <p:spPr>
          <a:xfrm>
            <a:off x="6181430" y="4315276"/>
            <a:ext cx="276038" cy="307777"/>
          </a:xfrm>
          <a:prstGeom prst="rect">
            <a:avLst/>
          </a:prstGeom>
          <a:noFill/>
        </p:spPr>
        <p:txBody>
          <a:bodyPr wrap="none" rtlCol="0">
            <a:spAutoFit/>
          </a:bodyPr>
          <a:lstStyle/>
          <a:p>
            <a:r>
              <a:rPr lang="tr-TR" sz="1400" dirty="0"/>
              <a:t>1</a:t>
            </a:r>
          </a:p>
        </p:txBody>
      </p:sp>
      <p:sp>
        <p:nvSpPr>
          <p:cNvPr id="45" name="Metin kutusu 44">
            <a:extLst>
              <a:ext uri="{FF2B5EF4-FFF2-40B4-BE49-F238E27FC236}">
                <a16:creationId xmlns:a16="http://schemas.microsoft.com/office/drawing/2014/main" id="{C8F1B581-F7F1-FC9D-5473-C5E8FE7B45CC}"/>
              </a:ext>
            </a:extLst>
          </p:cNvPr>
          <p:cNvSpPr txBox="1"/>
          <p:nvPr/>
        </p:nvSpPr>
        <p:spPr>
          <a:xfrm>
            <a:off x="6189773" y="3498301"/>
            <a:ext cx="279244" cy="307777"/>
          </a:xfrm>
          <a:prstGeom prst="rect">
            <a:avLst/>
          </a:prstGeom>
          <a:noFill/>
        </p:spPr>
        <p:txBody>
          <a:bodyPr wrap="none" rtlCol="0">
            <a:spAutoFit/>
          </a:bodyPr>
          <a:lstStyle/>
          <a:p>
            <a:r>
              <a:rPr lang="tr-TR" sz="1400" dirty="0"/>
              <a:t>n</a:t>
            </a:r>
          </a:p>
        </p:txBody>
      </p:sp>
    </p:spTree>
    <p:extLst>
      <p:ext uri="{BB962C8B-B14F-4D97-AF65-F5344CB8AC3E}">
        <p14:creationId xmlns:p14="http://schemas.microsoft.com/office/powerpoint/2010/main" val="2944304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61B37BF8-07B1-9A87-4C77-1FD3BF88B44D}"/>
              </a:ext>
            </a:extLst>
          </p:cNvPr>
          <p:cNvPicPr>
            <a:picLocks noChangeAspect="1"/>
          </p:cNvPicPr>
          <p:nvPr/>
        </p:nvPicPr>
        <p:blipFill>
          <a:blip r:embed="rId2"/>
          <a:stretch>
            <a:fillRect/>
          </a:stretch>
        </p:blipFill>
        <p:spPr>
          <a:xfrm>
            <a:off x="335359" y="4087752"/>
            <a:ext cx="11521281" cy="816437"/>
          </a:xfrm>
          <a:prstGeom prst="rect">
            <a:avLst/>
          </a:prstGeom>
        </p:spPr>
      </p:pic>
      <p:pic>
        <p:nvPicPr>
          <p:cNvPr id="5" name="Resim 4">
            <a:extLst>
              <a:ext uri="{FF2B5EF4-FFF2-40B4-BE49-F238E27FC236}">
                <a16:creationId xmlns:a16="http://schemas.microsoft.com/office/drawing/2014/main" id="{90209041-070D-7B71-B2AC-30B863A4111E}"/>
              </a:ext>
            </a:extLst>
          </p:cNvPr>
          <p:cNvPicPr>
            <a:picLocks noChangeAspect="1"/>
          </p:cNvPicPr>
          <p:nvPr/>
        </p:nvPicPr>
        <p:blipFill>
          <a:blip r:embed="rId3"/>
          <a:stretch>
            <a:fillRect/>
          </a:stretch>
        </p:blipFill>
        <p:spPr>
          <a:xfrm>
            <a:off x="335360" y="1953813"/>
            <a:ext cx="11521280" cy="816436"/>
          </a:xfrm>
          <a:prstGeom prst="rect">
            <a:avLst/>
          </a:prstGeom>
        </p:spPr>
      </p:pic>
      <p:sp>
        <p:nvSpPr>
          <p:cNvPr id="6" name="Metin kutusu 5">
            <a:extLst>
              <a:ext uri="{FF2B5EF4-FFF2-40B4-BE49-F238E27FC236}">
                <a16:creationId xmlns:a16="http://schemas.microsoft.com/office/drawing/2014/main" id="{7E11C6E3-3507-D746-74CC-ECFC5780CE47}"/>
              </a:ext>
            </a:extLst>
          </p:cNvPr>
          <p:cNvSpPr txBox="1"/>
          <p:nvPr/>
        </p:nvSpPr>
        <p:spPr>
          <a:xfrm>
            <a:off x="335358" y="3718420"/>
            <a:ext cx="11521281" cy="369332"/>
          </a:xfrm>
          <a:prstGeom prst="rect">
            <a:avLst/>
          </a:prstGeom>
          <a:noFill/>
        </p:spPr>
        <p:txBody>
          <a:bodyPr wrap="square" rtlCol="0">
            <a:spAutoFit/>
          </a:bodyPr>
          <a:lstStyle/>
          <a:p>
            <a:pPr algn="ctr"/>
            <a:r>
              <a:rPr lang="tr-TR" dirty="0" err="1"/>
              <a:t>employee</a:t>
            </a:r>
            <a:endParaRPr lang="tr-TR" dirty="0"/>
          </a:p>
        </p:txBody>
      </p:sp>
      <p:sp>
        <p:nvSpPr>
          <p:cNvPr id="7" name="Metin kutusu 6">
            <a:extLst>
              <a:ext uri="{FF2B5EF4-FFF2-40B4-BE49-F238E27FC236}">
                <a16:creationId xmlns:a16="http://schemas.microsoft.com/office/drawing/2014/main" id="{C7B3E1DF-EEA5-2073-D93F-5225B699D3A8}"/>
              </a:ext>
            </a:extLst>
          </p:cNvPr>
          <p:cNvSpPr txBox="1"/>
          <p:nvPr/>
        </p:nvSpPr>
        <p:spPr>
          <a:xfrm>
            <a:off x="335357" y="1584481"/>
            <a:ext cx="11521281" cy="369332"/>
          </a:xfrm>
          <a:prstGeom prst="rect">
            <a:avLst/>
          </a:prstGeom>
          <a:noFill/>
        </p:spPr>
        <p:txBody>
          <a:bodyPr wrap="square" rtlCol="0">
            <a:spAutoFit/>
          </a:bodyPr>
          <a:lstStyle/>
          <a:p>
            <a:pPr algn="ctr"/>
            <a:r>
              <a:rPr lang="tr-TR" dirty="0" err="1"/>
              <a:t>customer</a:t>
            </a:r>
            <a:endParaRPr lang="tr-TR" dirty="0"/>
          </a:p>
        </p:txBody>
      </p:sp>
      <p:sp>
        <p:nvSpPr>
          <p:cNvPr id="8" name="Metin kutusu 7">
            <a:extLst>
              <a:ext uri="{FF2B5EF4-FFF2-40B4-BE49-F238E27FC236}">
                <a16:creationId xmlns:a16="http://schemas.microsoft.com/office/drawing/2014/main" id="{89DF082B-AFD8-9356-FC04-A4B9933296AD}"/>
              </a:ext>
            </a:extLst>
          </p:cNvPr>
          <p:cNvSpPr txBox="1"/>
          <p:nvPr/>
        </p:nvSpPr>
        <p:spPr>
          <a:xfrm>
            <a:off x="1055440" y="567989"/>
            <a:ext cx="3288785" cy="400110"/>
          </a:xfrm>
          <a:prstGeom prst="rect">
            <a:avLst/>
          </a:prstGeom>
          <a:noFill/>
        </p:spPr>
        <p:txBody>
          <a:bodyPr wrap="none" rtlCol="0">
            <a:spAutoFit/>
          </a:bodyPr>
          <a:lstStyle/>
          <a:p>
            <a:r>
              <a:rPr lang="tr-TR" sz="2000" b="1" dirty="0"/>
              <a:t>Örnek Müşteri/Çalışan Çıktısı</a:t>
            </a:r>
          </a:p>
        </p:txBody>
      </p:sp>
    </p:spTree>
    <p:extLst>
      <p:ext uri="{BB962C8B-B14F-4D97-AF65-F5344CB8AC3E}">
        <p14:creationId xmlns:p14="http://schemas.microsoft.com/office/powerpoint/2010/main" val="1320952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A9292B57-F427-409B-62C8-DF972A505DC6}"/>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094EA05D-8258-295E-1DCF-F6B0B3457440}"/>
              </a:ext>
            </a:extLst>
          </p:cNvPr>
          <p:cNvSpPr txBox="1"/>
          <p:nvPr/>
        </p:nvSpPr>
        <p:spPr>
          <a:xfrm>
            <a:off x="2208365" y="129663"/>
            <a:ext cx="7775270" cy="523220"/>
          </a:xfrm>
          <a:prstGeom prst="rect">
            <a:avLst/>
          </a:prstGeom>
          <a:noFill/>
        </p:spPr>
        <p:txBody>
          <a:bodyPr wrap="none" rtlCol="0">
            <a:spAutoFit/>
          </a:bodyPr>
          <a:lstStyle/>
          <a:p>
            <a:r>
              <a:rPr lang="tr-TR" sz="2800" b="1" dirty="0"/>
              <a:t>Servis Kaydı ve Servis İşlemi Tablosu Gereksinimleri</a:t>
            </a:r>
          </a:p>
        </p:txBody>
      </p:sp>
      <p:sp>
        <p:nvSpPr>
          <p:cNvPr id="3" name="Metin kutusu 2">
            <a:extLst>
              <a:ext uri="{FF2B5EF4-FFF2-40B4-BE49-F238E27FC236}">
                <a16:creationId xmlns:a16="http://schemas.microsoft.com/office/drawing/2014/main" id="{124D06D8-81CD-61F3-6A00-2A78C3A450A3}"/>
              </a:ext>
            </a:extLst>
          </p:cNvPr>
          <p:cNvSpPr txBox="1"/>
          <p:nvPr/>
        </p:nvSpPr>
        <p:spPr>
          <a:xfrm>
            <a:off x="238125" y="819027"/>
            <a:ext cx="11715750" cy="5909310"/>
          </a:xfrm>
          <a:prstGeom prst="rect">
            <a:avLst/>
          </a:prstGeom>
          <a:noFill/>
        </p:spPr>
        <p:txBody>
          <a:bodyPr wrap="square" rtlCol="0">
            <a:spAutoFit/>
          </a:bodyPr>
          <a:lstStyle/>
          <a:p>
            <a:pPr algn="just"/>
            <a:r>
              <a:rPr lang="tr-TR" b="1" dirty="0"/>
              <a:t>Amacı ve Saklanacak Veriler:</a:t>
            </a:r>
            <a:r>
              <a:rPr lang="tr-TR" dirty="0"/>
              <a:t> Teknik servis iş akışını yönetmek için arızalı cihazın temel bilgilerini ve müşteri şikayetini Servis Kaydı (</a:t>
            </a:r>
            <a:r>
              <a:rPr lang="tr-TR" dirty="0" err="1"/>
              <a:t>service_record</a:t>
            </a:r>
            <a:r>
              <a:rPr lang="tr-TR" dirty="0"/>
              <a:t>) tablosunda; cihaza yapılan müdahaleleri ve işlemi yapan personel bilgisini Servis İşlemi (</a:t>
            </a:r>
            <a:r>
              <a:rPr lang="tr-TR" dirty="0" err="1"/>
              <a:t>service_process</a:t>
            </a:r>
            <a:r>
              <a:rPr lang="tr-TR" dirty="0"/>
              <a:t>) tablosunda; cihazın güncel onarım aşamasını ise Durum (</a:t>
            </a:r>
            <a:r>
              <a:rPr lang="tr-TR" dirty="0" err="1"/>
              <a:t>status</a:t>
            </a:r>
            <a:r>
              <a:rPr lang="tr-TR" dirty="0"/>
              <a:t>) tablosunda saklayacak şekilde bir yapı kurdum.</a:t>
            </a:r>
          </a:p>
          <a:p>
            <a:pPr algn="just"/>
            <a:endParaRPr lang="tr-TR" dirty="0"/>
          </a:p>
          <a:p>
            <a:pPr algn="just"/>
            <a:r>
              <a:rPr lang="tr-TR" b="1" dirty="0"/>
              <a:t>Tablo Yapısı:</a:t>
            </a:r>
            <a:r>
              <a:rPr lang="tr-TR" dirty="0"/>
              <a:t> Servis sürecinde veri kalabalığını önlemek için verileri tek bir tabloda yığmak yerine, ana kayıt ve tarihsel işlemler olarak ikiye ayırdım. Cihazın sabit bilgileri ve ilk şikayeti Servis Kaydı (</a:t>
            </a:r>
            <a:r>
              <a:rPr lang="tr-TR" dirty="0" err="1"/>
              <a:t>service_record</a:t>
            </a:r>
            <a:r>
              <a:rPr lang="tr-TR" dirty="0"/>
              <a:t>) tablosunda tutulurken, cihaza yapılan her bir müdahaleyi Servis İşlemi (</a:t>
            </a:r>
            <a:r>
              <a:rPr lang="tr-TR" dirty="0" err="1"/>
              <a:t>service_process</a:t>
            </a:r>
            <a:r>
              <a:rPr lang="tr-TR" dirty="0"/>
              <a:t>) tablosuna aktardım. Ayrıca, sürecin güncel durumunu serbest metin olarak yazdırmak yerine, veri tutarlılığını ve </a:t>
            </a:r>
            <a:r>
              <a:rPr lang="tr-TR" dirty="0" err="1"/>
              <a:t>raporlanabilirliği</a:t>
            </a:r>
            <a:r>
              <a:rPr lang="tr-TR" dirty="0"/>
              <a:t> sağlamak amacıyla bağımsız bir Durum (</a:t>
            </a:r>
            <a:r>
              <a:rPr lang="tr-TR" dirty="0" err="1"/>
              <a:t>status</a:t>
            </a:r>
            <a:r>
              <a:rPr lang="tr-TR" dirty="0"/>
              <a:t>) tablosu tasarladım.</a:t>
            </a:r>
          </a:p>
          <a:p>
            <a:pPr algn="just"/>
            <a:endParaRPr lang="tr-TR" dirty="0"/>
          </a:p>
          <a:p>
            <a:r>
              <a:rPr lang="tr-TR" b="1" dirty="0"/>
              <a:t>Veriler Arası İlişkiler (</a:t>
            </a:r>
            <a:r>
              <a:rPr lang="tr-TR" b="1" dirty="0" err="1"/>
              <a:t>Kardinalite</a:t>
            </a:r>
            <a:r>
              <a:rPr lang="tr-TR" b="1" dirty="0"/>
              <a:t>):</a:t>
            </a:r>
            <a:r>
              <a:rPr lang="tr-TR" dirty="0"/>
              <a:t> İş süreçlerinin doğru takip edilebilmesi için tablolar arasında şu bire-çok (1:N) ilişkileri kurguladım:</a:t>
            </a:r>
          </a:p>
          <a:p>
            <a:pPr marL="285750" indent="-285750">
              <a:buFont typeface="Arial" panose="020B0604020202020204" pitchFamily="34" charset="0"/>
              <a:buChar char="•"/>
            </a:pPr>
            <a:r>
              <a:rPr lang="tr-TR" b="1" dirty="0"/>
              <a:t>Müşteri - Servis Kaydı (1:N):</a:t>
            </a:r>
            <a:r>
              <a:rPr lang="tr-TR" dirty="0"/>
              <a:t> Bir müşterinin (</a:t>
            </a:r>
            <a:r>
              <a:rPr lang="tr-TR" dirty="0" err="1"/>
              <a:t>customer</a:t>
            </a:r>
            <a:r>
              <a:rPr lang="tr-TR" dirty="0"/>
              <a:t>), sisteme kayıtlı birden fazla servis kaydı (</a:t>
            </a:r>
            <a:r>
              <a:rPr lang="tr-TR" dirty="0" err="1"/>
              <a:t>service_record</a:t>
            </a:r>
            <a:r>
              <a:rPr lang="tr-TR" dirty="0"/>
              <a:t>) olabilmesine olanak tanıdım (1:N).</a:t>
            </a:r>
          </a:p>
          <a:p>
            <a:pPr marL="285750" indent="-285750">
              <a:buFont typeface="Arial" panose="020B0604020202020204" pitchFamily="34" charset="0"/>
              <a:buChar char="•"/>
            </a:pPr>
            <a:r>
              <a:rPr lang="tr-TR" b="1" dirty="0"/>
              <a:t>Servis Kaydı - İşlem Süreci (1:N):</a:t>
            </a:r>
            <a:r>
              <a:rPr lang="tr-TR" dirty="0"/>
              <a:t> Sisteme girilen tek bir cihaz arıza kaydına (</a:t>
            </a:r>
            <a:r>
              <a:rPr lang="tr-TR" dirty="0" err="1"/>
              <a:t>service_record</a:t>
            </a:r>
            <a:r>
              <a:rPr lang="tr-TR" dirty="0"/>
              <a:t>), sürecin farklı aşamalarında birden fazla müdahale işlemi (</a:t>
            </a:r>
            <a:r>
              <a:rPr lang="tr-TR" dirty="0" err="1"/>
              <a:t>service_process</a:t>
            </a:r>
            <a:r>
              <a:rPr lang="tr-TR" dirty="0"/>
              <a:t>) eklenebilmesini sağladım (1:N).</a:t>
            </a:r>
          </a:p>
          <a:p>
            <a:pPr marL="285750" indent="-285750">
              <a:buFont typeface="Arial" panose="020B0604020202020204" pitchFamily="34" charset="0"/>
              <a:buChar char="•"/>
            </a:pPr>
            <a:r>
              <a:rPr lang="tr-TR" b="1" dirty="0"/>
              <a:t>Personel - İşlem Süreci (1:N):</a:t>
            </a:r>
            <a:r>
              <a:rPr lang="tr-TR" dirty="0"/>
              <a:t> Bir çalışanın (</a:t>
            </a:r>
            <a:r>
              <a:rPr lang="tr-TR" dirty="0" err="1"/>
              <a:t>employee</a:t>
            </a:r>
            <a:r>
              <a:rPr lang="tr-TR" dirty="0"/>
              <a:t>), sistemdeki farklı servis kayıtlarına ait birden fazla işleme (</a:t>
            </a:r>
            <a:r>
              <a:rPr lang="tr-TR" dirty="0" err="1"/>
              <a:t>service_process</a:t>
            </a:r>
            <a:r>
              <a:rPr lang="tr-TR" dirty="0"/>
              <a:t>) müdahale edebileceği bir mantık kurdum (1:N).</a:t>
            </a:r>
          </a:p>
          <a:p>
            <a:pPr marL="285750" indent="-285750">
              <a:buFont typeface="Arial" panose="020B0604020202020204" pitchFamily="34" charset="0"/>
              <a:buChar char="•"/>
            </a:pPr>
            <a:r>
              <a:rPr lang="tr-TR" b="1" dirty="0"/>
              <a:t>Durum - İşlem Süreci (1:N):</a:t>
            </a:r>
            <a:r>
              <a:rPr lang="tr-TR" dirty="0"/>
              <a:t> Sistemde tanımlı standart bir durumun (</a:t>
            </a:r>
            <a:r>
              <a:rPr lang="tr-TR" dirty="0" err="1"/>
              <a:t>status</a:t>
            </a:r>
            <a:r>
              <a:rPr lang="tr-TR" dirty="0"/>
              <a:t> - </a:t>
            </a:r>
            <a:r>
              <a:rPr lang="tr-TR" dirty="0" err="1"/>
              <a:t>Örn</a:t>
            </a:r>
            <a:r>
              <a:rPr lang="tr-TR" dirty="0"/>
              <a:t>: "İncelemede" veya "Tamamlandı"), birden fazla servis işleminde (</a:t>
            </a:r>
            <a:r>
              <a:rPr lang="tr-TR" dirty="0" err="1"/>
              <a:t>service_process</a:t>
            </a:r>
            <a:r>
              <a:rPr lang="tr-TR" dirty="0"/>
              <a:t>) kullanılabilmesine olanak tanıdım (1:N).</a:t>
            </a:r>
          </a:p>
        </p:txBody>
      </p:sp>
    </p:spTree>
    <p:extLst>
      <p:ext uri="{BB962C8B-B14F-4D97-AF65-F5344CB8AC3E}">
        <p14:creationId xmlns:p14="http://schemas.microsoft.com/office/powerpoint/2010/main" val="2660447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38F511C3-9EB8-583B-C338-8FF00B1A9F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359" y="548681"/>
            <a:ext cx="11521281" cy="5760640"/>
          </a:xfrm>
          <a:prstGeom prst="rect">
            <a:avLst/>
          </a:prstGeom>
        </p:spPr>
      </p:pic>
      <p:sp>
        <p:nvSpPr>
          <p:cNvPr id="4" name="Metin kutusu 3">
            <a:extLst>
              <a:ext uri="{FF2B5EF4-FFF2-40B4-BE49-F238E27FC236}">
                <a16:creationId xmlns:a16="http://schemas.microsoft.com/office/drawing/2014/main" id="{F94BDBA2-EB72-068B-3B4E-4269D4B07BBE}"/>
              </a:ext>
            </a:extLst>
          </p:cNvPr>
          <p:cNvSpPr txBox="1"/>
          <p:nvPr/>
        </p:nvSpPr>
        <p:spPr>
          <a:xfrm>
            <a:off x="1055440" y="148569"/>
            <a:ext cx="4020844" cy="400110"/>
          </a:xfrm>
          <a:prstGeom prst="rect">
            <a:avLst/>
          </a:prstGeom>
          <a:noFill/>
        </p:spPr>
        <p:txBody>
          <a:bodyPr wrap="none" rtlCol="0">
            <a:spAutoFit/>
          </a:bodyPr>
          <a:lstStyle/>
          <a:p>
            <a:r>
              <a:rPr lang="tr-TR" sz="2000" b="1" dirty="0"/>
              <a:t>Servis Kaydı/Servis İşlemi Diyagramı</a:t>
            </a:r>
          </a:p>
        </p:txBody>
      </p:sp>
    </p:spTree>
    <p:extLst>
      <p:ext uri="{BB962C8B-B14F-4D97-AF65-F5344CB8AC3E}">
        <p14:creationId xmlns:p14="http://schemas.microsoft.com/office/powerpoint/2010/main" val="3846182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418DA730-4224-64CB-1D63-5BB8ADFC7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440" y="1268760"/>
            <a:ext cx="10081120" cy="4320480"/>
          </a:xfrm>
          <a:prstGeom prst="rect">
            <a:avLst/>
          </a:prstGeom>
        </p:spPr>
      </p:pic>
    </p:spTree>
    <p:extLst>
      <p:ext uri="{BB962C8B-B14F-4D97-AF65-F5344CB8AC3E}">
        <p14:creationId xmlns:p14="http://schemas.microsoft.com/office/powerpoint/2010/main" val="999355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47055590-88D8-2D41-5F58-E1BB0B9B2D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332" y="698004"/>
            <a:ext cx="6182588" cy="924054"/>
          </a:xfrm>
          <a:prstGeom prst="rect">
            <a:avLst/>
          </a:prstGeom>
        </p:spPr>
      </p:pic>
      <p:pic>
        <p:nvPicPr>
          <p:cNvPr id="5" name="Resim 4">
            <a:extLst>
              <a:ext uri="{FF2B5EF4-FFF2-40B4-BE49-F238E27FC236}">
                <a16:creationId xmlns:a16="http://schemas.microsoft.com/office/drawing/2014/main" id="{EF0DD228-B3A8-A932-5A67-3ABC163878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332" y="2064507"/>
            <a:ext cx="7135221" cy="1114581"/>
          </a:xfrm>
          <a:prstGeom prst="rect">
            <a:avLst/>
          </a:prstGeom>
        </p:spPr>
      </p:pic>
      <p:pic>
        <p:nvPicPr>
          <p:cNvPr id="7" name="Resim 6">
            <a:extLst>
              <a:ext uri="{FF2B5EF4-FFF2-40B4-BE49-F238E27FC236}">
                <a16:creationId xmlns:a16="http://schemas.microsoft.com/office/drawing/2014/main" id="{04F5FD1E-7EAA-DFF4-6553-0300FB283A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332" y="3621536"/>
            <a:ext cx="6154009" cy="1257475"/>
          </a:xfrm>
          <a:prstGeom prst="rect">
            <a:avLst/>
          </a:prstGeom>
        </p:spPr>
      </p:pic>
      <p:pic>
        <p:nvPicPr>
          <p:cNvPr id="9" name="Resim 8">
            <a:extLst>
              <a:ext uri="{FF2B5EF4-FFF2-40B4-BE49-F238E27FC236}">
                <a16:creationId xmlns:a16="http://schemas.microsoft.com/office/drawing/2014/main" id="{3AF34326-B314-D349-8F89-A88F8B2A0F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56907" y="3506834"/>
            <a:ext cx="2324424" cy="1438476"/>
          </a:xfrm>
          <a:prstGeom prst="rect">
            <a:avLst/>
          </a:prstGeom>
        </p:spPr>
      </p:pic>
      <p:pic>
        <p:nvPicPr>
          <p:cNvPr id="11" name="Resim 10">
            <a:extLst>
              <a:ext uri="{FF2B5EF4-FFF2-40B4-BE49-F238E27FC236}">
                <a16:creationId xmlns:a16="http://schemas.microsoft.com/office/drawing/2014/main" id="{C07D7D5E-15B7-3049-3F1B-6EC9C419F8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332" y="5321459"/>
            <a:ext cx="8078327" cy="1143160"/>
          </a:xfrm>
          <a:prstGeom prst="rect">
            <a:avLst/>
          </a:prstGeom>
        </p:spPr>
      </p:pic>
      <p:sp>
        <p:nvSpPr>
          <p:cNvPr id="12" name="Metin kutusu 11">
            <a:extLst>
              <a:ext uri="{FF2B5EF4-FFF2-40B4-BE49-F238E27FC236}">
                <a16:creationId xmlns:a16="http://schemas.microsoft.com/office/drawing/2014/main" id="{8219F4A2-49E2-6E4C-D223-315640CD3510}"/>
              </a:ext>
            </a:extLst>
          </p:cNvPr>
          <p:cNvSpPr txBox="1"/>
          <p:nvPr/>
        </p:nvSpPr>
        <p:spPr>
          <a:xfrm>
            <a:off x="330332" y="328672"/>
            <a:ext cx="6154009" cy="369332"/>
          </a:xfrm>
          <a:prstGeom prst="rect">
            <a:avLst/>
          </a:prstGeom>
          <a:noFill/>
        </p:spPr>
        <p:txBody>
          <a:bodyPr wrap="square" rtlCol="0">
            <a:spAutoFit/>
          </a:bodyPr>
          <a:lstStyle/>
          <a:p>
            <a:pPr algn="ctr"/>
            <a:r>
              <a:rPr lang="tr-TR" dirty="0"/>
              <a:t>Müşteri (</a:t>
            </a:r>
            <a:r>
              <a:rPr lang="tr-TR" dirty="0" err="1"/>
              <a:t>customer</a:t>
            </a:r>
            <a:r>
              <a:rPr lang="tr-TR" dirty="0"/>
              <a:t>)</a:t>
            </a:r>
          </a:p>
        </p:txBody>
      </p:sp>
      <p:sp>
        <p:nvSpPr>
          <p:cNvPr id="13" name="Metin kutusu 12">
            <a:extLst>
              <a:ext uri="{FF2B5EF4-FFF2-40B4-BE49-F238E27FC236}">
                <a16:creationId xmlns:a16="http://schemas.microsoft.com/office/drawing/2014/main" id="{98F610F0-F730-672C-A6AB-E67595F9033D}"/>
              </a:ext>
            </a:extLst>
          </p:cNvPr>
          <p:cNvSpPr txBox="1"/>
          <p:nvPr/>
        </p:nvSpPr>
        <p:spPr>
          <a:xfrm>
            <a:off x="330332" y="1695174"/>
            <a:ext cx="7135221" cy="369332"/>
          </a:xfrm>
          <a:prstGeom prst="rect">
            <a:avLst/>
          </a:prstGeom>
          <a:noFill/>
        </p:spPr>
        <p:txBody>
          <a:bodyPr wrap="square" rtlCol="0">
            <a:spAutoFit/>
          </a:bodyPr>
          <a:lstStyle/>
          <a:p>
            <a:pPr algn="ctr"/>
            <a:r>
              <a:rPr lang="tr-TR" dirty="0"/>
              <a:t>Servis Kaydı (</a:t>
            </a:r>
            <a:r>
              <a:rPr lang="tr-TR" dirty="0" err="1"/>
              <a:t>service_record</a:t>
            </a:r>
            <a:r>
              <a:rPr lang="tr-TR" dirty="0"/>
              <a:t>)</a:t>
            </a:r>
          </a:p>
        </p:txBody>
      </p:sp>
      <p:sp>
        <p:nvSpPr>
          <p:cNvPr id="14" name="Metin kutusu 13">
            <a:extLst>
              <a:ext uri="{FF2B5EF4-FFF2-40B4-BE49-F238E27FC236}">
                <a16:creationId xmlns:a16="http://schemas.microsoft.com/office/drawing/2014/main" id="{638E4796-3409-0E8C-33B2-807ED7357CD0}"/>
              </a:ext>
            </a:extLst>
          </p:cNvPr>
          <p:cNvSpPr txBox="1"/>
          <p:nvPr/>
        </p:nvSpPr>
        <p:spPr>
          <a:xfrm>
            <a:off x="330333" y="3236648"/>
            <a:ext cx="6154008" cy="369332"/>
          </a:xfrm>
          <a:prstGeom prst="rect">
            <a:avLst/>
          </a:prstGeom>
          <a:noFill/>
        </p:spPr>
        <p:txBody>
          <a:bodyPr wrap="square" rtlCol="0">
            <a:spAutoFit/>
          </a:bodyPr>
          <a:lstStyle/>
          <a:p>
            <a:pPr algn="ctr"/>
            <a:r>
              <a:rPr lang="tr-TR" dirty="0"/>
              <a:t>Servis İşlemi (</a:t>
            </a:r>
            <a:r>
              <a:rPr lang="tr-TR" dirty="0" err="1"/>
              <a:t>service_process</a:t>
            </a:r>
            <a:r>
              <a:rPr lang="tr-TR" dirty="0"/>
              <a:t>)</a:t>
            </a:r>
          </a:p>
        </p:txBody>
      </p:sp>
      <p:sp>
        <p:nvSpPr>
          <p:cNvPr id="15" name="Metin kutusu 14">
            <a:extLst>
              <a:ext uri="{FF2B5EF4-FFF2-40B4-BE49-F238E27FC236}">
                <a16:creationId xmlns:a16="http://schemas.microsoft.com/office/drawing/2014/main" id="{21B2A7F4-633D-9317-EC69-1E703E56DF11}"/>
              </a:ext>
            </a:extLst>
          </p:cNvPr>
          <p:cNvSpPr txBox="1"/>
          <p:nvPr/>
        </p:nvSpPr>
        <p:spPr>
          <a:xfrm>
            <a:off x="330333" y="4952127"/>
            <a:ext cx="8078326" cy="369332"/>
          </a:xfrm>
          <a:prstGeom prst="rect">
            <a:avLst/>
          </a:prstGeom>
          <a:noFill/>
        </p:spPr>
        <p:txBody>
          <a:bodyPr wrap="square" rtlCol="0">
            <a:spAutoFit/>
          </a:bodyPr>
          <a:lstStyle/>
          <a:p>
            <a:pPr algn="ctr"/>
            <a:r>
              <a:rPr lang="tr-TR" dirty="0"/>
              <a:t>Çalışan (</a:t>
            </a:r>
            <a:r>
              <a:rPr lang="tr-TR" dirty="0" err="1"/>
              <a:t>employee</a:t>
            </a:r>
            <a:r>
              <a:rPr lang="tr-TR" dirty="0"/>
              <a:t>)</a:t>
            </a:r>
          </a:p>
        </p:txBody>
      </p:sp>
      <p:sp>
        <p:nvSpPr>
          <p:cNvPr id="16" name="Metin kutusu 15">
            <a:extLst>
              <a:ext uri="{FF2B5EF4-FFF2-40B4-BE49-F238E27FC236}">
                <a16:creationId xmlns:a16="http://schemas.microsoft.com/office/drawing/2014/main" id="{27C42B69-07D3-D363-0C69-4B1348B1373F}"/>
              </a:ext>
            </a:extLst>
          </p:cNvPr>
          <p:cNvSpPr txBox="1"/>
          <p:nvPr/>
        </p:nvSpPr>
        <p:spPr>
          <a:xfrm>
            <a:off x="9556907" y="3137502"/>
            <a:ext cx="2324424" cy="369332"/>
          </a:xfrm>
          <a:prstGeom prst="rect">
            <a:avLst/>
          </a:prstGeom>
          <a:noFill/>
        </p:spPr>
        <p:txBody>
          <a:bodyPr wrap="square" rtlCol="0">
            <a:spAutoFit/>
          </a:bodyPr>
          <a:lstStyle/>
          <a:p>
            <a:pPr algn="ctr"/>
            <a:r>
              <a:rPr lang="tr-TR" dirty="0"/>
              <a:t>Durum (</a:t>
            </a:r>
            <a:r>
              <a:rPr lang="tr-TR" dirty="0" err="1"/>
              <a:t>status</a:t>
            </a:r>
            <a:r>
              <a:rPr lang="tr-TR" dirty="0"/>
              <a:t>)</a:t>
            </a:r>
          </a:p>
        </p:txBody>
      </p:sp>
      <p:cxnSp>
        <p:nvCxnSpPr>
          <p:cNvPr id="22" name="Düz Ok Bağlayıcısı 21">
            <a:extLst>
              <a:ext uri="{FF2B5EF4-FFF2-40B4-BE49-F238E27FC236}">
                <a16:creationId xmlns:a16="http://schemas.microsoft.com/office/drawing/2014/main" id="{D499729E-649F-1FA6-C1D8-4E4F5DE8665D}"/>
              </a:ext>
            </a:extLst>
          </p:cNvPr>
          <p:cNvCxnSpPr>
            <a:cxnSpLocks/>
          </p:cNvCxnSpPr>
          <p:nvPr/>
        </p:nvCxnSpPr>
        <p:spPr>
          <a:xfrm flipH="1">
            <a:off x="6512920" y="4719483"/>
            <a:ext cx="65479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Düz Bağlayıcı 26">
            <a:extLst>
              <a:ext uri="{FF2B5EF4-FFF2-40B4-BE49-F238E27FC236}">
                <a16:creationId xmlns:a16="http://schemas.microsoft.com/office/drawing/2014/main" id="{1AB7A654-4C1B-E38F-2632-195D9EAF819A}"/>
              </a:ext>
            </a:extLst>
          </p:cNvPr>
          <p:cNvCxnSpPr/>
          <p:nvPr/>
        </p:nvCxnSpPr>
        <p:spPr>
          <a:xfrm>
            <a:off x="7167716" y="4719483"/>
            <a:ext cx="0" cy="6019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Düz Bağlayıcı 28">
            <a:extLst>
              <a:ext uri="{FF2B5EF4-FFF2-40B4-BE49-F238E27FC236}">
                <a16:creationId xmlns:a16="http://schemas.microsoft.com/office/drawing/2014/main" id="{0FA01CB9-C65E-9D65-19CB-DD17E4E1A4C7}"/>
              </a:ext>
            </a:extLst>
          </p:cNvPr>
          <p:cNvCxnSpPr>
            <a:cxnSpLocks/>
          </p:cNvCxnSpPr>
          <p:nvPr/>
        </p:nvCxnSpPr>
        <p:spPr>
          <a:xfrm>
            <a:off x="7098890" y="3179088"/>
            <a:ext cx="0" cy="655492"/>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Düz Ok Bağlayıcısı 31">
            <a:extLst>
              <a:ext uri="{FF2B5EF4-FFF2-40B4-BE49-F238E27FC236}">
                <a16:creationId xmlns:a16="http://schemas.microsoft.com/office/drawing/2014/main" id="{37EE1F31-7B33-A41D-D6D1-83D5675C5857}"/>
              </a:ext>
            </a:extLst>
          </p:cNvPr>
          <p:cNvCxnSpPr>
            <a:cxnSpLocks/>
          </p:cNvCxnSpPr>
          <p:nvPr/>
        </p:nvCxnSpPr>
        <p:spPr>
          <a:xfrm flipH="1">
            <a:off x="6484341" y="3834580"/>
            <a:ext cx="614549" cy="983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 name="Düz Ok Bağlayıcısı 34">
            <a:extLst>
              <a:ext uri="{FF2B5EF4-FFF2-40B4-BE49-F238E27FC236}">
                <a16:creationId xmlns:a16="http://schemas.microsoft.com/office/drawing/2014/main" id="{DE07CE8A-2545-7C9A-D06C-2E44B26D0609}"/>
              </a:ext>
            </a:extLst>
          </p:cNvPr>
          <p:cNvCxnSpPr>
            <a:cxnSpLocks/>
            <a:stCxn id="9" idx="1"/>
            <a:endCxn id="7" idx="3"/>
          </p:cNvCxnSpPr>
          <p:nvPr/>
        </p:nvCxnSpPr>
        <p:spPr>
          <a:xfrm flipH="1">
            <a:off x="6484341" y="4226072"/>
            <a:ext cx="3072566" cy="2420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Düz Bağlayıcı 38">
            <a:extLst>
              <a:ext uri="{FF2B5EF4-FFF2-40B4-BE49-F238E27FC236}">
                <a16:creationId xmlns:a16="http://schemas.microsoft.com/office/drawing/2014/main" id="{E742D89D-3122-2DFD-6086-0BDB72E0DD83}"/>
              </a:ext>
            </a:extLst>
          </p:cNvPr>
          <p:cNvCxnSpPr>
            <a:stCxn id="3" idx="3"/>
          </p:cNvCxnSpPr>
          <p:nvPr/>
        </p:nvCxnSpPr>
        <p:spPr>
          <a:xfrm>
            <a:off x="6512920" y="1160031"/>
            <a:ext cx="41882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1" name="Düz Ok Bağlayıcısı 40">
            <a:extLst>
              <a:ext uri="{FF2B5EF4-FFF2-40B4-BE49-F238E27FC236}">
                <a16:creationId xmlns:a16="http://schemas.microsoft.com/office/drawing/2014/main" id="{66C16BB5-70F7-E798-F583-AE75DA7412D3}"/>
              </a:ext>
            </a:extLst>
          </p:cNvPr>
          <p:cNvCxnSpPr/>
          <p:nvPr/>
        </p:nvCxnSpPr>
        <p:spPr>
          <a:xfrm>
            <a:off x="6941574" y="1160031"/>
            <a:ext cx="0" cy="90447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2" name="Metin kutusu 41">
            <a:extLst>
              <a:ext uri="{FF2B5EF4-FFF2-40B4-BE49-F238E27FC236}">
                <a16:creationId xmlns:a16="http://schemas.microsoft.com/office/drawing/2014/main" id="{FE02EDAF-2886-F6AC-EBDC-6123F5B0EDE3}"/>
              </a:ext>
            </a:extLst>
          </p:cNvPr>
          <p:cNvSpPr txBox="1"/>
          <p:nvPr/>
        </p:nvSpPr>
        <p:spPr>
          <a:xfrm>
            <a:off x="6484340" y="3536635"/>
            <a:ext cx="279244" cy="307777"/>
          </a:xfrm>
          <a:prstGeom prst="rect">
            <a:avLst/>
          </a:prstGeom>
          <a:noFill/>
        </p:spPr>
        <p:txBody>
          <a:bodyPr wrap="none" rtlCol="0">
            <a:spAutoFit/>
          </a:bodyPr>
          <a:lstStyle/>
          <a:p>
            <a:r>
              <a:rPr lang="tr-TR" sz="1400" dirty="0"/>
              <a:t>n</a:t>
            </a:r>
          </a:p>
        </p:txBody>
      </p:sp>
      <p:sp>
        <p:nvSpPr>
          <p:cNvPr id="43" name="Metin kutusu 42">
            <a:extLst>
              <a:ext uri="{FF2B5EF4-FFF2-40B4-BE49-F238E27FC236}">
                <a16:creationId xmlns:a16="http://schemas.microsoft.com/office/drawing/2014/main" id="{393009AF-7C52-0D0C-EDBF-47DF8AA6FE5C}"/>
              </a:ext>
            </a:extLst>
          </p:cNvPr>
          <p:cNvSpPr txBox="1"/>
          <p:nvPr/>
        </p:nvSpPr>
        <p:spPr>
          <a:xfrm>
            <a:off x="6941574" y="1756729"/>
            <a:ext cx="279244" cy="307777"/>
          </a:xfrm>
          <a:prstGeom prst="rect">
            <a:avLst/>
          </a:prstGeom>
          <a:noFill/>
        </p:spPr>
        <p:txBody>
          <a:bodyPr wrap="none" rtlCol="0">
            <a:spAutoFit/>
          </a:bodyPr>
          <a:lstStyle/>
          <a:p>
            <a:r>
              <a:rPr lang="tr-TR" sz="1400" dirty="0"/>
              <a:t>n</a:t>
            </a:r>
          </a:p>
        </p:txBody>
      </p:sp>
      <p:sp>
        <p:nvSpPr>
          <p:cNvPr id="44" name="Metin kutusu 43">
            <a:extLst>
              <a:ext uri="{FF2B5EF4-FFF2-40B4-BE49-F238E27FC236}">
                <a16:creationId xmlns:a16="http://schemas.microsoft.com/office/drawing/2014/main" id="{F14A2C03-33B9-28DE-C2EC-A392AFA05F95}"/>
              </a:ext>
            </a:extLst>
          </p:cNvPr>
          <p:cNvSpPr txBox="1"/>
          <p:nvPr/>
        </p:nvSpPr>
        <p:spPr>
          <a:xfrm>
            <a:off x="6515577" y="852253"/>
            <a:ext cx="276038" cy="307777"/>
          </a:xfrm>
          <a:prstGeom prst="rect">
            <a:avLst/>
          </a:prstGeom>
          <a:noFill/>
        </p:spPr>
        <p:txBody>
          <a:bodyPr wrap="none" rtlCol="0">
            <a:spAutoFit/>
          </a:bodyPr>
          <a:lstStyle/>
          <a:p>
            <a:r>
              <a:rPr lang="tr-TR" sz="1400" dirty="0"/>
              <a:t>1</a:t>
            </a:r>
          </a:p>
        </p:txBody>
      </p:sp>
      <p:sp>
        <p:nvSpPr>
          <p:cNvPr id="45" name="Metin kutusu 44">
            <a:extLst>
              <a:ext uri="{FF2B5EF4-FFF2-40B4-BE49-F238E27FC236}">
                <a16:creationId xmlns:a16="http://schemas.microsoft.com/office/drawing/2014/main" id="{D9DE2852-0C0E-0764-42E5-50316DFC6CAA}"/>
              </a:ext>
            </a:extLst>
          </p:cNvPr>
          <p:cNvSpPr txBox="1"/>
          <p:nvPr/>
        </p:nvSpPr>
        <p:spPr>
          <a:xfrm>
            <a:off x="7098890" y="3175876"/>
            <a:ext cx="276038" cy="307777"/>
          </a:xfrm>
          <a:prstGeom prst="rect">
            <a:avLst/>
          </a:prstGeom>
          <a:noFill/>
        </p:spPr>
        <p:txBody>
          <a:bodyPr wrap="none" rtlCol="0">
            <a:spAutoFit/>
          </a:bodyPr>
          <a:lstStyle/>
          <a:p>
            <a:r>
              <a:rPr lang="tr-TR" sz="1400" dirty="0"/>
              <a:t>1</a:t>
            </a:r>
          </a:p>
        </p:txBody>
      </p:sp>
      <p:sp>
        <p:nvSpPr>
          <p:cNvPr id="46" name="Metin kutusu 45">
            <a:extLst>
              <a:ext uri="{FF2B5EF4-FFF2-40B4-BE49-F238E27FC236}">
                <a16:creationId xmlns:a16="http://schemas.microsoft.com/office/drawing/2014/main" id="{E9F4C666-E4BC-4497-FEC4-13BA65917EB7}"/>
              </a:ext>
            </a:extLst>
          </p:cNvPr>
          <p:cNvSpPr txBox="1"/>
          <p:nvPr/>
        </p:nvSpPr>
        <p:spPr>
          <a:xfrm>
            <a:off x="7167715" y="5008937"/>
            <a:ext cx="276038" cy="307777"/>
          </a:xfrm>
          <a:prstGeom prst="rect">
            <a:avLst/>
          </a:prstGeom>
          <a:noFill/>
        </p:spPr>
        <p:txBody>
          <a:bodyPr wrap="none" rtlCol="0">
            <a:spAutoFit/>
          </a:bodyPr>
          <a:lstStyle/>
          <a:p>
            <a:r>
              <a:rPr lang="tr-TR" sz="1400" dirty="0"/>
              <a:t>1</a:t>
            </a:r>
          </a:p>
        </p:txBody>
      </p:sp>
      <p:sp>
        <p:nvSpPr>
          <p:cNvPr id="47" name="Metin kutusu 46">
            <a:extLst>
              <a:ext uri="{FF2B5EF4-FFF2-40B4-BE49-F238E27FC236}">
                <a16:creationId xmlns:a16="http://schemas.microsoft.com/office/drawing/2014/main" id="{08A74866-D654-FDDB-C913-E55962F8AF1C}"/>
              </a:ext>
            </a:extLst>
          </p:cNvPr>
          <p:cNvSpPr txBox="1"/>
          <p:nvPr/>
        </p:nvSpPr>
        <p:spPr>
          <a:xfrm>
            <a:off x="6484340" y="4411706"/>
            <a:ext cx="279244" cy="307777"/>
          </a:xfrm>
          <a:prstGeom prst="rect">
            <a:avLst/>
          </a:prstGeom>
          <a:noFill/>
        </p:spPr>
        <p:txBody>
          <a:bodyPr wrap="none" rtlCol="0">
            <a:spAutoFit/>
          </a:bodyPr>
          <a:lstStyle/>
          <a:p>
            <a:r>
              <a:rPr lang="tr-TR" sz="1400" dirty="0"/>
              <a:t>n</a:t>
            </a:r>
          </a:p>
        </p:txBody>
      </p:sp>
      <p:sp>
        <p:nvSpPr>
          <p:cNvPr id="48" name="Metin kutusu 47">
            <a:extLst>
              <a:ext uri="{FF2B5EF4-FFF2-40B4-BE49-F238E27FC236}">
                <a16:creationId xmlns:a16="http://schemas.microsoft.com/office/drawing/2014/main" id="{CDABDD39-0C1F-9317-41C4-225F64C0D253}"/>
              </a:ext>
            </a:extLst>
          </p:cNvPr>
          <p:cNvSpPr txBox="1"/>
          <p:nvPr/>
        </p:nvSpPr>
        <p:spPr>
          <a:xfrm>
            <a:off x="9280869" y="3918295"/>
            <a:ext cx="276038" cy="307777"/>
          </a:xfrm>
          <a:prstGeom prst="rect">
            <a:avLst/>
          </a:prstGeom>
          <a:noFill/>
        </p:spPr>
        <p:txBody>
          <a:bodyPr wrap="none" rtlCol="0">
            <a:spAutoFit/>
          </a:bodyPr>
          <a:lstStyle/>
          <a:p>
            <a:r>
              <a:rPr lang="tr-TR" sz="1400" dirty="0"/>
              <a:t>1</a:t>
            </a:r>
          </a:p>
        </p:txBody>
      </p:sp>
      <p:sp>
        <p:nvSpPr>
          <p:cNvPr id="49" name="Metin kutusu 48">
            <a:extLst>
              <a:ext uri="{FF2B5EF4-FFF2-40B4-BE49-F238E27FC236}">
                <a16:creationId xmlns:a16="http://schemas.microsoft.com/office/drawing/2014/main" id="{7B3B8AE1-2ADD-FC26-A862-D629D0EEE15A}"/>
              </a:ext>
            </a:extLst>
          </p:cNvPr>
          <p:cNvSpPr txBox="1"/>
          <p:nvPr/>
        </p:nvSpPr>
        <p:spPr>
          <a:xfrm>
            <a:off x="6484341" y="3937783"/>
            <a:ext cx="279244" cy="307777"/>
          </a:xfrm>
          <a:prstGeom prst="rect">
            <a:avLst/>
          </a:prstGeom>
          <a:noFill/>
        </p:spPr>
        <p:txBody>
          <a:bodyPr wrap="none" rtlCol="0">
            <a:spAutoFit/>
          </a:bodyPr>
          <a:lstStyle/>
          <a:p>
            <a:r>
              <a:rPr lang="tr-TR" sz="1400" dirty="0"/>
              <a:t>n</a:t>
            </a:r>
          </a:p>
        </p:txBody>
      </p:sp>
    </p:spTree>
    <p:extLst>
      <p:ext uri="{BB962C8B-B14F-4D97-AF65-F5344CB8AC3E}">
        <p14:creationId xmlns:p14="http://schemas.microsoft.com/office/powerpoint/2010/main" val="1780158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718F4A87-6166-4DA8-37B9-6DE2007D4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368" y="2002058"/>
            <a:ext cx="11521264" cy="1426941"/>
          </a:xfrm>
          <a:prstGeom prst="rect">
            <a:avLst/>
          </a:prstGeom>
        </p:spPr>
      </p:pic>
      <p:pic>
        <p:nvPicPr>
          <p:cNvPr id="7" name="Resim 6">
            <a:extLst>
              <a:ext uri="{FF2B5EF4-FFF2-40B4-BE49-F238E27FC236}">
                <a16:creationId xmlns:a16="http://schemas.microsoft.com/office/drawing/2014/main" id="{D12EB17E-8653-2546-5E20-0525E3AE06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73" y="4140038"/>
            <a:ext cx="11521267" cy="1449201"/>
          </a:xfrm>
          <a:prstGeom prst="rect">
            <a:avLst/>
          </a:prstGeom>
        </p:spPr>
      </p:pic>
      <p:sp>
        <p:nvSpPr>
          <p:cNvPr id="8" name="Metin kutusu 7">
            <a:extLst>
              <a:ext uri="{FF2B5EF4-FFF2-40B4-BE49-F238E27FC236}">
                <a16:creationId xmlns:a16="http://schemas.microsoft.com/office/drawing/2014/main" id="{98FAA0E4-B975-B23C-7B6D-D1F61EE35B8D}"/>
              </a:ext>
            </a:extLst>
          </p:cNvPr>
          <p:cNvSpPr txBox="1"/>
          <p:nvPr/>
        </p:nvSpPr>
        <p:spPr>
          <a:xfrm>
            <a:off x="335360" y="1632725"/>
            <a:ext cx="11521264" cy="369332"/>
          </a:xfrm>
          <a:prstGeom prst="rect">
            <a:avLst/>
          </a:prstGeom>
          <a:noFill/>
        </p:spPr>
        <p:txBody>
          <a:bodyPr wrap="square" rtlCol="0">
            <a:spAutoFit/>
          </a:bodyPr>
          <a:lstStyle/>
          <a:p>
            <a:pPr algn="ctr"/>
            <a:r>
              <a:rPr lang="tr-TR" dirty="0" err="1"/>
              <a:t>service_record</a:t>
            </a:r>
            <a:endParaRPr lang="tr-TR" dirty="0"/>
          </a:p>
        </p:txBody>
      </p:sp>
      <p:sp>
        <p:nvSpPr>
          <p:cNvPr id="9" name="Metin kutusu 8">
            <a:extLst>
              <a:ext uri="{FF2B5EF4-FFF2-40B4-BE49-F238E27FC236}">
                <a16:creationId xmlns:a16="http://schemas.microsoft.com/office/drawing/2014/main" id="{6991D576-84E0-F848-F67B-CF6098EA330F}"/>
              </a:ext>
            </a:extLst>
          </p:cNvPr>
          <p:cNvSpPr txBox="1"/>
          <p:nvPr/>
        </p:nvSpPr>
        <p:spPr>
          <a:xfrm>
            <a:off x="335360" y="3770707"/>
            <a:ext cx="11521266" cy="369332"/>
          </a:xfrm>
          <a:prstGeom prst="rect">
            <a:avLst/>
          </a:prstGeom>
          <a:noFill/>
        </p:spPr>
        <p:txBody>
          <a:bodyPr wrap="square" rtlCol="0">
            <a:spAutoFit/>
          </a:bodyPr>
          <a:lstStyle/>
          <a:p>
            <a:pPr algn="ctr"/>
            <a:r>
              <a:rPr lang="tr-TR" dirty="0" err="1"/>
              <a:t>service_process</a:t>
            </a:r>
            <a:endParaRPr lang="tr-TR" dirty="0"/>
          </a:p>
        </p:txBody>
      </p:sp>
      <p:sp>
        <p:nvSpPr>
          <p:cNvPr id="2" name="Metin kutusu 1">
            <a:extLst>
              <a:ext uri="{FF2B5EF4-FFF2-40B4-BE49-F238E27FC236}">
                <a16:creationId xmlns:a16="http://schemas.microsoft.com/office/drawing/2014/main" id="{FBE8A480-AB31-246D-1050-76A64329515B}"/>
              </a:ext>
            </a:extLst>
          </p:cNvPr>
          <p:cNvSpPr txBox="1"/>
          <p:nvPr/>
        </p:nvSpPr>
        <p:spPr>
          <a:xfrm>
            <a:off x="1055440" y="571965"/>
            <a:ext cx="4296817" cy="400110"/>
          </a:xfrm>
          <a:prstGeom prst="rect">
            <a:avLst/>
          </a:prstGeom>
          <a:noFill/>
        </p:spPr>
        <p:txBody>
          <a:bodyPr wrap="none" rtlCol="0">
            <a:spAutoFit/>
          </a:bodyPr>
          <a:lstStyle/>
          <a:p>
            <a:r>
              <a:rPr lang="tr-TR" sz="2000" b="1" dirty="0"/>
              <a:t>Örnek Servis Kaydı/Servis İşlemi Çıktısı</a:t>
            </a:r>
          </a:p>
        </p:txBody>
      </p:sp>
    </p:spTree>
    <p:extLst>
      <p:ext uri="{BB962C8B-B14F-4D97-AF65-F5344CB8AC3E}">
        <p14:creationId xmlns:p14="http://schemas.microsoft.com/office/powerpoint/2010/main" val="2231779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0B7173E7-A834-C7E1-86B9-825D0B0EA979}"/>
            </a:ext>
          </a:extLst>
        </p:cNvPr>
        <p:cNvGrpSpPr/>
        <p:nvPr/>
      </p:nvGrpSpPr>
      <p:grpSpPr>
        <a:xfrm>
          <a:off x="0" y="0"/>
          <a:ext cx="0" cy="0"/>
          <a:chOff x="0" y="0"/>
          <a:chExt cx="0" cy="0"/>
        </a:xfrm>
      </p:grpSpPr>
      <p:pic>
        <p:nvPicPr>
          <p:cNvPr id="5" name="Resim 4">
            <a:extLst>
              <a:ext uri="{FF2B5EF4-FFF2-40B4-BE49-F238E27FC236}">
                <a16:creationId xmlns:a16="http://schemas.microsoft.com/office/drawing/2014/main" id="{A5DD32C1-EE8C-B024-65B9-426108E41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19" y="548680"/>
            <a:ext cx="8640961" cy="5760640"/>
          </a:xfrm>
          <a:prstGeom prst="rect">
            <a:avLst/>
          </a:prstGeom>
        </p:spPr>
      </p:pic>
    </p:spTree>
    <p:extLst>
      <p:ext uri="{BB962C8B-B14F-4D97-AF65-F5344CB8AC3E}">
        <p14:creationId xmlns:p14="http://schemas.microsoft.com/office/powerpoint/2010/main" val="808382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527DBD5F-37A7-1E67-1D5F-C0A9C49434CB}"/>
            </a:ext>
          </a:extLst>
        </p:cNvPr>
        <p:cNvGrpSpPr/>
        <p:nvPr/>
      </p:nvGrpSpPr>
      <p:grpSpPr>
        <a:xfrm>
          <a:off x="0" y="0"/>
          <a:ext cx="0" cy="0"/>
          <a:chOff x="0" y="0"/>
          <a:chExt cx="0" cy="0"/>
        </a:xfrm>
      </p:grpSpPr>
      <p:pic>
        <p:nvPicPr>
          <p:cNvPr id="5" name="Resim 4">
            <a:extLst>
              <a:ext uri="{FF2B5EF4-FFF2-40B4-BE49-F238E27FC236}">
                <a16:creationId xmlns:a16="http://schemas.microsoft.com/office/drawing/2014/main" id="{9F5BD073-B233-BA48-72A9-C607BF4D3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20" y="548681"/>
            <a:ext cx="8640960" cy="5760640"/>
          </a:xfrm>
          <a:prstGeom prst="rect">
            <a:avLst/>
          </a:prstGeom>
        </p:spPr>
      </p:pic>
    </p:spTree>
    <p:extLst>
      <p:ext uri="{BB962C8B-B14F-4D97-AF65-F5344CB8AC3E}">
        <p14:creationId xmlns:p14="http://schemas.microsoft.com/office/powerpoint/2010/main" val="1436848367"/>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404</TotalTime>
  <Words>926</Words>
  <Application>Microsoft Office PowerPoint</Application>
  <PresentationFormat>Geniş ekran</PresentationFormat>
  <Paragraphs>78</Paragraphs>
  <Slides>21</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21</vt:i4>
      </vt:variant>
    </vt:vector>
  </HeadingPairs>
  <TitlesOfParts>
    <vt:vector size="25" baseType="lpstr">
      <vt:lpstr>Arial</vt:lpstr>
      <vt:lpstr>Calibri</vt:lpstr>
      <vt:lpstr>Calibri Light</vt:lpstr>
      <vt:lpstr>Office Teması</vt:lpstr>
      <vt:lpstr>Teknik Servis Veri Tabanı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semih kurucay</dc:creator>
  <cp:lastModifiedBy>semih kurucay</cp:lastModifiedBy>
  <cp:revision>12</cp:revision>
  <dcterms:created xsi:type="dcterms:W3CDTF">2026-02-21T18:59:15Z</dcterms:created>
  <dcterms:modified xsi:type="dcterms:W3CDTF">2026-03-01T12:03:45Z</dcterms:modified>
</cp:coreProperties>
</file>